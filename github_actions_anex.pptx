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1"/>
  </p:notesMasterIdLst>
  <p:sldIdLst>
    <p:sldId id="374" r:id="rId2"/>
    <p:sldId id="375" r:id="rId3"/>
    <p:sldId id="256" r:id="rId4"/>
    <p:sldId id="353" r:id="rId5"/>
    <p:sldId id="274" r:id="rId6"/>
    <p:sldId id="356" r:id="rId7"/>
    <p:sldId id="352" r:id="rId8"/>
    <p:sldId id="355" r:id="rId9"/>
    <p:sldId id="359" r:id="rId10"/>
    <p:sldId id="358" r:id="rId11"/>
    <p:sldId id="361" r:id="rId12"/>
    <p:sldId id="362" r:id="rId13"/>
    <p:sldId id="380" r:id="rId14"/>
    <p:sldId id="364" r:id="rId15"/>
    <p:sldId id="354" r:id="rId16"/>
    <p:sldId id="365" r:id="rId17"/>
    <p:sldId id="366" r:id="rId18"/>
    <p:sldId id="370" r:id="rId19"/>
    <p:sldId id="367" r:id="rId20"/>
    <p:sldId id="368" r:id="rId21"/>
    <p:sldId id="381" r:id="rId22"/>
    <p:sldId id="382" r:id="rId23"/>
    <p:sldId id="371" r:id="rId24"/>
    <p:sldId id="376" r:id="rId25"/>
    <p:sldId id="377" r:id="rId26"/>
    <p:sldId id="373" r:id="rId27"/>
    <p:sldId id="378" r:id="rId28"/>
    <p:sldId id="379" r:id="rId29"/>
    <p:sldId id="342"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69D940E-021E-4B37-BFAB-EB5AB9331F13}">
          <p14:sldIdLst>
            <p14:sldId id="374"/>
            <p14:sldId id="375"/>
            <p14:sldId id="256"/>
            <p14:sldId id="353"/>
            <p14:sldId id="274"/>
            <p14:sldId id="356"/>
            <p14:sldId id="352"/>
            <p14:sldId id="355"/>
            <p14:sldId id="359"/>
            <p14:sldId id="358"/>
            <p14:sldId id="361"/>
            <p14:sldId id="362"/>
            <p14:sldId id="380"/>
            <p14:sldId id="364"/>
            <p14:sldId id="354"/>
            <p14:sldId id="365"/>
            <p14:sldId id="366"/>
            <p14:sldId id="370"/>
            <p14:sldId id="367"/>
            <p14:sldId id="368"/>
            <p14:sldId id="381"/>
            <p14:sldId id="382"/>
            <p14:sldId id="371"/>
            <p14:sldId id="376"/>
            <p14:sldId id="377"/>
            <p14:sldId id="373"/>
            <p14:sldId id="378"/>
            <p14:sldId id="379"/>
            <p14:sldId id="342"/>
          </p14:sldIdLst>
        </p14:section>
        <p14:section name="Appendix" id="{82BFD91B-B0E3-426A-8EC6-C90FFE5981D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51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97" autoAdjust="0"/>
    <p:restoredTop sz="97437" autoAdjust="0"/>
  </p:normalViewPr>
  <p:slideViewPr>
    <p:cSldViewPr snapToGrid="0">
      <p:cViewPr>
        <p:scale>
          <a:sx n="110" d="100"/>
          <a:sy n="110" d="100"/>
        </p:scale>
        <p:origin x="672" y="6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93D56-E312-475A-AFE8-E5A96CADDEC2}" type="datetimeFigureOut">
              <a:rPr lang="en-US" smtClean="0"/>
              <a:t>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ED3737-B85E-4357-B9F6-56B70699D569}" type="slidenum">
              <a:rPr lang="en-US" smtClean="0"/>
              <a:t>‹#›</a:t>
            </a:fld>
            <a:endParaRPr lang="en-US"/>
          </a:p>
        </p:txBody>
      </p:sp>
    </p:spTree>
    <p:extLst>
      <p:ext uri="{BB962C8B-B14F-4D97-AF65-F5344CB8AC3E}">
        <p14:creationId xmlns:p14="http://schemas.microsoft.com/office/powerpoint/2010/main" val="232206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58F9A-968E-4B62-1278-01B2841FC1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D81EFF-7124-7895-7E0F-C648025ADB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FE4B2A-0C0A-AA6D-6069-F04278CCE9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788D2D-01E8-A2FB-5286-5A29A6511C21}"/>
              </a:ext>
            </a:extLst>
          </p:cNvPr>
          <p:cNvSpPr>
            <a:spLocks noGrp="1"/>
          </p:cNvSpPr>
          <p:nvPr>
            <p:ph type="sldNum" sz="quarter" idx="5"/>
          </p:nvPr>
        </p:nvSpPr>
        <p:spPr/>
        <p:txBody>
          <a:bodyPr/>
          <a:lstStyle/>
          <a:p>
            <a:fld id="{D6ED3737-B85E-4357-B9F6-56B70699D569}" type="slidenum">
              <a:rPr lang="en-US" smtClean="0"/>
              <a:t>4</a:t>
            </a:fld>
            <a:endParaRPr lang="en-US"/>
          </a:p>
        </p:txBody>
      </p:sp>
    </p:spTree>
    <p:extLst>
      <p:ext uri="{BB962C8B-B14F-4D97-AF65-F5344CB8AC3E}">
        <p14:creationId xmlns:p14="http://schemas.microsoft.com/office/powerpoint/2010/main" val="2505864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88176-072B-3CAF-B2B5-8C0CC97B1E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F876C2-EEC7-9E7D-A1D5-7D050E9F6D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1A8863-B543-ADEB-DB61-89AD76374380}"/>
              </a:ext>
            </a:extLst>
          </p:cNvPr>
          <p:cNvSpPr>
            <a:spLocks noGrp="1"/>
          </p:cNvSpPr>
          <p:nvPr>
            <p:ph type="dt" sz="half" idx="10"/>
          </p:nvPr>
        </p:nvSpPr>
        <p:spPr/>
        <p:txBody>
          <a:bodyPr/>
          <a:lstStyle/>
          <a:p>
            <a:fld id="{2D92584F-A200-450E-AD08-9AE358D5F312}" type="datetime1">
              <a:rPr lang="en-US" smtClean="0"/>
              <a:t>10/20/25</a:t>
            </a:fld>
            <a:endParaRPr lang="en-US"/>
          </a:p>
        </p:txBody>
      </p:sp>
      <p:sp>
        <p:nvSpPr>
          <p:cNvPr id="5" name="Footer Placeholder 4">
            <a:extLst>
              <a:ext uri="{FF2B5EF4-FFF2-40B4-BE49-F238E27FC236}">
                <a16:creationId xmlns:a16="http://schemas.microsoft.com/office/drawing/2014/main" id="{078EDBF4-6DCE-EA41-B114-5C4664B446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A31975-261D-7761-AF70-355A1D35391A}"/>
              </a:ext>
            </a:extLst>
          </p:cNvPr>
          <p:cNvSpPr>
            <a:spLocks noGrp="1"/>
          </p:cNvSpPr>
          <p:nvPr>
            <p:ph type="sldNum" sz="quarter" idx="12"/>
          </p:nvPr>
        </p:nvSpPr>
        <p:spPr/>
        <p:txBody>
          <a:bodyPr/>
          <a:lstStyle/>
          <a:p>
            <a:fld id="{B9496208-0396-4DEE-9187-2167066D100E}" type="slidenum">
              <a:rPr lang="en-US" smtClean="0"/>
              <a:t>‹#›</a:t>
            </a:fld>
            <a:endParaRPr lang="en-US"/>
          </a:p>
        </p:txBody>
      </p:sp>
    </p:spTree>
    <p:extLst>
      <p:ext uri="{BB962C8B-B14F-4D97-AF65-F5344CB8AC3E}">
        <p14:creationId xmlns:p14="http://schemas.microsoft.com/office/powerpoint/2010/main" val="4181611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DFCE1-1C9D-50B0-E98A-F56EC16394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AC9DE7-B8A2-1BFD-1CDA-FE8D954870F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9BC54A-8FF2-01F6-AAC6-0532FF8E1905}"/>
              </a:ext>
            </a:extLst>
          </p:cNvPr>
          <p:cNvSpPr>
            <a:spLocks noGrp="1"/>
          </p:cNvSpPr>
          <p:nvPr>
            <p:ph type="dt" sz="half" idx="10"/>
          </p:nvPr>
        </p:nvSpPr>
        <p:spPr/>
        <p:txBody>
          <a:bodyPr/>
          <a:lstStyle/>
          <a:p>
            <a:fld id="{A912F8B0-907B-434F-84FB-2B6EE00B5AB9}" type="datetime1">
              <a:rPr lang="en-US" smtClean="0"/>
              <a:t>10/20/25</a:t>
            </a:fld>
            <a:endParaRPr lang="en-US"/>
          </a:p>
        </p:txBody>
      </p:sp>
      <p:sp>
        <p:nvSpPr>
          <p:cNvPr id="5" name="Footer Placeholder 4">
            <a:extLst>
              <a:ext uri="{FF2B5EF4-FFF2-40B4-BE49-F238E27FC236}">
                <a16:creationId xmlns:a16="http://schemas.microsoft.com/office/drawing/2014/main" id="{FF48B5CD-B2EB-551E-51EF-C68B03E4E3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3E47EB-9922-671C-6B64-E49F4192C33E}"/>
              </a:ext>
            </a:extLst>
          </p:cNvPr>
          <p:cNvSpPr>
            <a:spLocks noGrp="1"/>
          </p:cNvSpPr>
          <p:nvPr>
            <p:ph type="sldNum" sz="quarter" idx="12"/>
          </p:nvPr>
        </p:nvSpPr>
        <p:spPr/>
        <p:txBody>
          <a:bodyPr/>
          <a:lstStyle/>
          <a:p>
            <a:fld id="{B9496208-0396-4DEE-9187-2167066D100E}" type="slidenum">
              <a:rPr lang="en-US" smtClean="0"/>
              <a:t>‹#›</a:t>
            </a:fld>
            <a:endParaRPr lang="en-US"/>
          </a:p>
        </p:txBody>
      </p:sp>
    </p:spTree>
    <p:extLst>
      <p:ext uri="{BB962C8B-B14F-4D97-AF65-F5344CB8AC3E}">
        <p14:creationId xmlns:p14="http://schemas.microsoft.com/office/powerpoint/2010/main" val="1599263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B077C-69C1-F5D8-44D5-BC402E8796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8C9A59-8DB5-3B67-A988-B8AA52E16B3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DAFBF4-2456-0F6D-DB67-506D381FF395}"/>
              </a:ext>
            </a:extLst>
          </p:cNvPr>
          <p:cNvSpPr>
            <a:spLocks noGrp="1"/>
          </p:cNvSpPr>
          <p:nvPr>
            <p:ph type="dt" sz="half" idx="10"/>
          </p:nvPr>
        </p:nvSpPr>
        <p:spPr/>
        <p:txBody>
          <a:bodyPr/>
          <a:lstStyle/>
          <a:p>
            <a:fld id="{3E64DD1D-28F0-4462-9347-AC7EE935DFAD}" type="datetime1">
              <a:rPr lang="en-US" smtClean="0"/>
              <a:t>10/20/25</a:t>
            </a:fld>
            <a:endParaRPr lang="en-US"/>
          </a:p>
        </p:txBody>
      </p:sp>
      <p:sp>
        <p:nvSpPr>
          <p:cNvPr id="5" name="Footer Placeholder 4">
            <a:extLst>
              <a:ext uri="{FF2B5EF4-FFF2-40B4-BE49-F238E27FC236}">
                <a16:creationId xmlns:a16="http://schemas.microsoft.com/office/drawing/2014/main" id="{D1166BE4-757B-B1B1-788F-693C8E5C2E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9C6363-CCED-823E-0775-B28F5397E2EF}"/>
              </a:ext>
            </a:extLst>
          </p:cNvPr>
          <p:cNvSpPr>
            <a:spLocks noGrp="1"/>
          </p:cNvSpPr>
          <p:nvPr>
            <p:ph type="sldNum" sz="quarter" idx="12"/>
          </p:nvPr>
        </p:nvSpPr>
        <p:spPr/>
        <p:txBody>
          <a:bodyPr/>
          <a:lstStyle/>
          <a:p>
            <a:fld id="{B9496208-0396-4DEE-9187-2167066D100E}" type="slidenum">
              <a:rPr lang="en-US" smtClean="0"/>
              <a:t>‹#›</a:t>
            </a:fld>
            <a:endParaRPr lang="en-US"/>
          </a:p>
        </p:txBody>
      </p:sp>
    </p:spTree>
    <p:extLst>
      <p:ext uri="{BB962C8B-B14F-4D97-AF65-F5344CB8AC3E}">
        <p14:creationId xmlns:p14="http://schemas.microsoft.com/office/powerpoint/2010/main" val="2674923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F17B0-1040-B9CA-E77B-3E0C4AFD5D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4C9BFB-1B86-C6DB-70EE-D800C04AD7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B90F46B-3628-8B1C-3D33-04C639587B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CC05B76-5441-B290-EB76-CE1D9D651569}"/>
              </a:ext>
            </a:extLst>
          </p:cNvPr>
          <p:cNvSpPr>
            <a:spLocks noGrp="1"/>
          </p:cNvSpPr>
          <p:nvPr>
            <p:ph type="dt" sz="half" idx="10"/>
          </p:nvPr>
        </p:nvSpPr>
        <p:spPr/>
        <p:txBody>
          <a:bodyPr/>
          <a:lstStyle/>
          <a:p>
            <a:fld id="{FE1F9B9E-A818-4031-9198-AAA411A8A88D}" type="datetime1">
              <a:rPr lang="en-US" smtClean="0"/>
              <a:t>10/20/25</a:t>
            </a:fld>
            <a:endParaRPr lang="en-US"/>
          </a:p>
        </p:txBody>
      </p:sp>
      <p:sp>
        <p:nvSpPr>
          <p:cNvPr id="6" name="Footer Placeholder 5">
            <a:extLst>
              <a:ext uri="{FF2B5EF4-FFF2-40B4-BE49-F238E27FC236}">
                <a16:creationId xmlns:a16="http://schemas.microsoft.com/office/drawing/2014/main" id="{A1CED3CD-C1C0-3D58-BC0A-F2B16C7A24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AB35FF-6CFC-A868-D6D7-E45FE5E3BF34}"/>
              </a:ext>
            </a:extLst>
          </p:cNvPr>
          <p:cNvSpPr>
            <a:spLocks noGrp="1"/>
          </p:cNvSpPr>
          <p:nvPr>
            <p:ph type="sldNum" sz="quarter" idx="12"/>
          </p:nvPr>
        </p:nvSpPr>
        <p:spPr/>
        <p:txBody>
          <a:bodyPr/>
          <a:lstStyle/>
          <a:p>
            <a:fld id="{B9496208-0396-4DEE-9187-2167066D100E}" type="slidenum">
              <a:rPr lang="en-US" smtClean="0"/>
              <a:t>‹#›</a:t>
            </a:fld>
            <a:endParaRPr lang="en-US"/>
          </a:p>
        </p:txBody>
      </p:sp>
    </p:spTree>
    <p:extLst>
      <p:ext uri="{BB962C8B-B14F-4D97-AF65-F5344CB8AC3E}">
        <p14:creationId xmlns:p14="http://schemas.microsoft.com/office/powerpoint/2010/main" val="21784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6FF87-4E04-AA8B-87E1-EC1614000D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D1F1CA-3BE3-2747-A333-2490AF67FE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F8DF9F-176D-AD80-627A-43D8F94C0A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31C458E-051A-9292-F1B9-E9ED857C64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21B633-94F0-ADBC-0CD8-0044A21767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B9ECB95-71DB-7679-2B47-2099424AEC98}"/>
              </a:ext>
            </a:extLst>
          </p:cNvPr>
          <p:cNvSpPr>
            <a:spLocks noGrp="1"/>
          </p:cNvSpPr>
          <p:nvPr>
            <p:ph type="dt" sz="half" idx="10"/>
          </p:nvPr>
        </p:nvSpPr>
        <p:spPr/>
        <p:txBody>
          <a:bodyPr/>
          <a:lstStyle/>
          <a:p>
            <a:fld id="{C97808E9-1A56-4A70-B2D1-DBC1A7186B1A}" type="datetime1">
              <a:rPr lang="en-US" smtClean="0"/>
              <a:t>10/20/25</a:t>
            </a:fld>
            <a:endParaRPr lang="en-US"/>
          </a:p>
        </p:txBody>
      </p:sp>
      <p:sp>
        <p:nvSpPr>
          <p:cNvPr id="8" name="Footer Placeholder 7">
            <a:extLst>
              <a:ext uri="{FF2B5EF4-FFF2-40B4-BE49-F238E27FC236}">
                <a16:creationId xmlns:a16="http://schemas.microsoft.com/office/drawing/2014/main" id="{B85230BE-D51B-C217-CED7-6B3D3CAC806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BFF7C96-2717-47CE-E3DE-B1E4492EF9E5}"/>
              </a:ext>
            </a:extLst>
          </p:cNvPr>
          <p:cNvSpPr>
            <a:spLocks noGrp="1"/>
          </p:cNvSpPr>
          <p:nvPr>
            <p:ph type="sldNum" sz="quarter" idx="12"/>
          </p:nvPr>
        </p:nvSpPr>
        <p:spPr/>
        <p:txBody>
          <a:bodyPr/>
          <a:lstStyle/>
          <a:p>
            <a:fld id="{B9496208-0396-4DEE-9187-2167066D100E}" type="slidenum">
              <a:rPr lang="en-US" smtClean="0"/>
              <a:t>‹#›</a:t>
            </a:fld>
            <a:endParaRPr lang="en-US"/>
          </a:p>
        </p:txBody>
      </p:sp>
    </p:spTree>
    <p:extLst>
      <p:ext uri="{BB962C8B-B14F-4D97-AF65-F5344CB8AC3E}">
        <p14:creationId xmlns:p14="http://schemas.microsoft.com/office/powerpoint/2010/main" val="450102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7ECA3-A9A2-7851-A94F-9ADA7242320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CE09696-7F47-7771-23DD-6E50D89E9DF6}"/>
              </a:ext>
            </a:extLst>
          </p:cNvPr>
          <p:cNvSpPr>
            <a:spLocks noGrp="1"/>
          </p:cNvSpPr>
          <p:nvPr>
            <p:ph type="dt" sz="half" idx="10"/>
          </p:nvPr>
        </p:nvSpPr>
        <p:spPr/>
        <p:txBody>
          <a:bodyPr/>
          <a:lstStyle/>
          <a:p>
            <a:fld id="{868B1E4B-6EA2-4694-A9F1-8631E65F70A1}" type="datetime1">
              <a:rPr lang="en-US" smtClean="0"/>
              <a:t>10/20/25</a:t>
            </a:fld>
            <a:endParaRPr lang="en-US"/>
          </a:p>
        </p:txBody>
      </p:sp>
      <p:sp>
        <p:nvSpPr>
          <p:cNvPr id="4" name="Footer Placeholder 3">
            <a:extLst>
              <a:ext uri="{FF2B5EF4-FFF2-40B4-BE49-F238E27FC236}">
                <a16:creationId xmlns:a16="http://schemas.microsoft.com/office/drawing/2014/main" id="{45501C17-BC97-2557-81E9-B29FE0B50AF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24B9DFA-BCF1-789F-2C02-361E5EBB9AFC}"/>
              </a:ext>
            </a:extLst>
          </p:cNvPr>
          <p:cNvSpPr>
            <a:spLocks noGrp="1"/>
          </p:cNvSpPr>
          <p:nvPr>
            <p:ph type="sldNum" sz="quarter" idx="12"/>
          </p:nvPr>
        </p:nvSpPr>
        <p:spPr/>
        <p:txBody>
          <a:bodyPr/>
          <a:lstStyle/>
          <a:p>
            <a:fld id="{B9496208-0396-4DEE-9187-2167066D100E}" type="slidenum">
              <a:rPr lang="en-US" smtClean="0"/>
              <a:t>‹#›</a:t>
            </a:fld>
            <a:endParaRPr lang="en-US"/>
          </a:p>
        </p:txBody>
      </p:sp>
    </p:spTree>
    <p:extLst>
      <p:ext uri="{BB962C8B-B14F-4D97-AF65-F5344CB8AC3E}">
        <p14:creationId xmlns:p14="http://schemas.microsoft.com/office/powerpoint/2010/main" val="3001578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4084B2-0726-8B4B-937B-7D07BA12EE7E}"/>
              </a:ext>
            </a:extLst>
          </p:cNvPr>
          <p:cNvSpPr>
            <a:spLocks noGrp="1"/>
          </p:cNvSpPr>
          <p:nvPr>
            <p:ph type="dt" sz="half" idx="10"/>
          </p:nvPr>
        </p:nvSpPr>
        <p:spPr/>
        <p:txBody>
          <a:bodyPr/>
          <a:lstStyle/>
          <a:p>
            <a:fld id="{FAF895E2-4F15-47E7-8406-949B60B7772D}" type="datetime1">
              <a:rPr lang="en-US" smtClean="0"/>
              <a:t>10/20/25</a:t>
            </a:fld>
            <a:endParaRPr lang="en-US"/>
          </a:p>
        </p:txBody>
      </p:sp>
      <p:sp>
        <p:nvSpPr>
          <p:cNvPr id="3" name="Footer Placeholder 2">
            <a:extLst>
              <a:ext uri="{FF2B5EF4-FFF2-40B4-BE49-F238E27FC236}">
                <a16:creationId xmlns:a16="http://schemas.microsoft.com/office/drawing/2014/main" id="{BAC30ADA-B060-4DA5-C316-E6021E92F80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CE4AC00-4C30-9AD9-A272-91FE00AF0FB1}"/>
              </a:ext>
            </a:extLst>
          </p:cNvPr>
          <p:cNvSpPr>
            <a:spLocks noGrp="1"/>
          </p:cNvSpPr>
          <p:nvPr>
            <p:ph type="sldNum" sz="quarter" idx="12"/>
          </p:nvPr>
        </p:nvSpPr>
        <p:spPr/>
        <p:txBody>
          <a:bodyPr/>
          <a:lstStyle/>
          <a:p>
            <a:fld id="{B9496208-0396-4DEE-9187-2167066D100E}" type="slidenum">
              <a:rPr lang="en-US" smtClean="0"/>
              <a:t>‹#›</a:t>
            </a:fld>
            <a:endParaRPr lang="en-US"/>
          </a:p>
        </p:txBody>
      </p:sp>
    </p:spTree>
    <p:extLst>
      <p:ext uri="{BB962C8B-B14F-4D97-AF65-F5344CB8AC3E}">
        <p14:creationId xmlns:p14="http://schemas.microsoft.com/office/powerpoint/2010/main" val="445388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B1C51-174E-89B0-55C5-29577C2263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053EB04-3C99-E140-6A5F-8BF6D72DB7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83A9E3-9EE5-9B44-1AC5-2706B95DD4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08BB86-FBDA-F7A3-90E2-9628FA9E17C1}"/>
              </a:ext>
            </a:extLst>
          </p:cNvPr>
          <p:cNvSpPr>
            <a:spLocks noGrp="1"/>
          </p:cNvSpPr>
          <p:nvPr>
            <p:ph type="dt" sz="half" idx="10"/>
          </p:nvPr>
        </p:nvSpPr>
        <p:spPr/>
        <p:txBody>
          <a:bodyPr/>
          <a:lstStyle/>
          <a:p>
            <a:fld id="{40AF5A26-1300-40A6-9BCD-10630E8A7C99}" type="datetime1">
              <a:rPr lang="en-US" smtClean="0"/>
              <a:t>10/20/25</a:t>
            </a:fld>
            <a:endParaRPr lang="en-US"/>
          </a:p>
        </p:txBody>
      </p:sp>
      <p:sp>
        <p:nvSpPr>
          <p:cNvPr id="6" name="Footer Placeholder 5">
            <a:extLst>
              <a:ext uri="{FF2B5EF4-FFF2-40B4-BE49-F238E27FC236}">
                <a16:creationId xmlns:a16="http://schemas.microsoft.com/office/drawing/2014/main" id="{32700D5A-96CA-B95D-7654-AF141E56D0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D70287-39DB-7BA3-7FB1-89AB1172C87C}"/>
              </a:ext>
            </a:extLst>
          </p:cNvPr>
          <p:cNvSpPr>
            <a:spLocks noGrp="1"/>
          </p:cNvSpPr>
          <p:nvPr>
            <p:ph type="sldNum" sz="quarter" idx="12"/>
          </p:nvPr>
        </p:nvSpPr>
        <p:spPr/>
        <p:txBody>
          <a:bodyPr/>
          <a:lstStyle/>
          <a:p>
            <a:fld id="{B9496208-0396-4DEE-9187-2167066D100E}" type="slidenum">
              <a:rPr lang="en-US" smtClean="0"/>
              <a:t>‹#›</a:t>
            </a:fld>
            <a:endParaRPr lang="en-US"/>
          </a:p>
        </p:txBody>
      </p:sp>
    </p:spTree>
    <p:extLst>
      <p:ext uri="{BB962C8B-B14F-4D97-AF65-F5344CB8AC3E}">
        <p14:creationId xmlns:p14="http://schemas.microsoft.com/office/powerpoint/2010/main" val="1822292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C792E-A70F-4478-CAB1-FA3DAB784A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B9C687-471B-C81B-B52A-762E7594F7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692868A-ABD3-8CA3-5E87-1FE3787BC8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C01F64-2248-B1BA-1E88-E468E90A873A}"/>
              </a:ext>
            </a:extLst>
          </p:cNvPr>
          <p:cNvSpPr>
            <a:spLocks noGrp="1"/>
          </p:cNvSpPr>
          <p:nvPr>
            <p:ph type="dt" sz="half" idx="10"/>
          </p:nvPr>
        </p:nvSpPr>
        <p:spPr/>
        <p:txBody>
          <a:bodyPr/>
          <a:lstStyle/>
          <a:p>
            <a:fld id="{97D71CD9-A5A2-4EB6-BF6B-D104543C1280}" type="datetime1">
              <a:rPr lang="en-US" smtClean="0"/>
              <a:t>10/20/25</a:t>
            </a:fld>
            <a:endParaRPr lang="en-US"/>
          </a:p>
        </p:txBody>
      </p:sp>
      <p:sp>
        <p:nvSpPr>
          <p:cNvPr id="6" name="Footer Placeholder 5">
            <a:extLst>
              <a:ext uri="{FF2B5EF4-FFF2-40B4-BE49-F238E27FC236}">
                <a16:creationId xmlns:a16="http://schemas.microsoft.com/office/drawing/2014/main" id="{4EE58A91-6DF6-FD30-D8EC-D23EAC9CDA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1279F9-2842-2D1D-01AC-4BB112B2FA08}"/>
              </a:ext>
            </a:extLst>
          </p:cNvPr>
          <p:cNvSpPr>
            <a:spLocks noGrp="1"/>
          </p:cNvSpPr>
          <p:nvPr>
            <p:ph type="sldNum" sz="quarter" idx="12"/>
          </p:nvPr>
        </p:nvSpPr>
        <p:spPr/>
        <p:txBody>
          <a:bodyPr/>
          <a:lstStyle/>
          <a:p>
            <a:fld id="{B9496208-0396-4DEE-9187-2167066D100E}" type="slidenum">
              <a:rPr lang="en-US" smtClean="0"/>
              <a:t>‹#›</a:t>
            </a:fld>
            <a:endParaRPr lang="en-US"/>
          </a:p>
        </p:txBody>
      </p:sp>
    </p:spTree>
    <p:extLst>
      <p:ext uri="{BB962C8B-B14F-4D97-AF65-F5344CB8AC3E}">
        <p14:creationId xmlns:p14="http://schemas.microsoft.com/office/powerpoint/2010/main" val="153853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9DE82-30C8-DBFE-2720-F26BEF5E227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A5F472-A1BC-8F94-ACA3-57D59C71C2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924EEA-87C8-CD6E-3174-9B083A98EC37}"/>
              </a:ext>
            </a:extLst>
          </p:cNvPr>
          <p:cNvSpPr>
            <a:spLocks noGrp="1"/>
          </p:cNvSpPr>
          <p:nvPr>
            <p:ph type="dt" sz="half" idx="10"/>
          </p:nvPr>
        </p:nvSpPr>
        <p:spPr/>
        <p:txBody>
          <a:bodyPr/>
          <a:lstStyle/>
          <a:p>
            <a:fld id="{9AF51972-8892-4A10-B64D-5C8D48B889E7}" type="datetime1">
              <a:rPr lang="en-US" smtClean="0"/>
              <a:t>10/20/25</a:t>
            </a:fld>
            <a:endParaRPr lang="en-US"/>
          </a:p>
        </p:txBody>
      </p:sp>
      <p:sp>
        <p:nvSpPr>
          <p:cNvPr id="5" name="Footer Placeholder 4">
            <a:extLst>
              <a:ext uri="{FF2B5EF4-FFF2-40B4-BE49-F238E27FC236}">
                <a16:creationId xmlns:a16="http://schemas.microsoft.com/office/drawing/2014/main" id="{279084CA-04E3-D36F-8ADE-101C75571A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FD68B7-CE90-E450-4A54-74944585D281}"/>
              </a:ext>
            </a:extLst>
          </p:cNvPr>
          <p:cNvSpPr>
            <a:spLocks noGrp="1"/>
          </p:cNvSpPr>
          <p:nvPr>
            <p:ph type="sldNum" sz="quarter" idx="12"/>
          </p:nvPr>
        </p:nvSpPr>
        <p:spPr/>
        <p:txBody>
          <a:bodyPr/>
          <a:lstStyle/>
          <a:p>
            <a:fld id="{B9496208-0396-4DEE-9187-2167066D100E}" type="slidenum">
              <a:rPr lang="en-US" smtClean="0"/>
              <a:t>‹#›</a:t>
            </a:fld>
            <a:endParaRPr lang="en-US"/>
          </a:p>
        </p:txBody>
      </p:sp>
    </p:spTree>
    <p:extLst>
      <p:ext uri="{BB962C8B-B14F-4D97-AF65-F5344CB8AC3E}">
        <p14:creationId xmlns:p14="http://schemas.microsoft.com/office/powerpoint/2010/main" val="31472550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CEDE87-8897-9993-F1C1-3212032719A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32496A0-F817-DA09-91FD-CA61BE13AB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3A36A6-DE28-C570-4C71-5ABFB18B3145}"/>
              </a:ext>
            </a:extLst>
          </p:cNvPr>
          <p:cNvSpPr>
            <a:spLocks noGrp="1"/>
          </p:cNvSpPr>
          <p:nvPr>
            <p:ph type="dt" sz="half" idx="10"/>
          </p:nvPr>
        </p:nvSpPr>
        <p:spPr/>
        <p:txBody>
          <a:bodyPr/>
          <a:lstStyle/>
          <a:p>
            <a:fld id="{613E3603-D018-4F75-9490-881FE058C1D8}" type="datetime1">
              <a:rPr lang="en-US" smtClean="0"/>
              <a:t>10/20/25</a:t>
            </a:fld>
            <a:endParaRPr lang="en-US"/>
          </a:p>
        </p:txBody>
      </p:sp>
      <p:sp>
        <p:nvSpPr>
          <p:cNvPr id="5" name="Footer Placeholder 4">
            <a:extLst>
              <a:ext uri="{FF2B5EF4-FFF2-40B4-BE49-F238E27FC236}">
                <a16:creationId xmlns:a16="http://schemas.microsoft.com/office/drawing/2014/main" id="{2C3C50E8-B509-E754-4BAD-DF9E453BC2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F8F481-E862-C84F-FB0E-1DCAAB27A157}"/>
              </a:ext>
            </a:extLst>
          </p:cNvPr>
          <p:cNvSpPr>
            <a:spLocks noGrp="1"/>
          </p:cNvSpPr>
          <p:nvPr>
            <p:ph type="sldNum" sz="quarter" idx="12"/>
          </p:nvPr>
        </p:nvSpPr>
        <p:spPr/>
        <p:txBody>
          <a:bodyPr/>
          <a:lstStyle/>
          <a:p>
            <a:fld id="{B9496208-0396-4DEE-9187-2167066D100E}" type="slidenum">
              <a:rPr lang="en-US" smtClean="0"/>
              <a:t>‹#›</a:t>
            </a:fld>
            <a:endParaRPr lang="en-US"/>
          </a:p>
        </p:txBody>
      </p:sp>
    </p:spTree>
    <p:extLst>
      <p:ext uri="{BB962C8B-B14F-4D97-AF65-F5344CB8AC3E}">
        <p14:creationId xmlns:p14="http://schemas.microsoft.com/office/powerpoint/2010/main" val="2215407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E30118-31D5-ED0E-77AB-7EECCB8AE6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4335B7-7A0D-85E7-8D3A-2EB4F11441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2B60-AEB3-5CE5-B59D-B13C1F04AD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2A878C-B8E7-42BD-97C0-09DFDA7FFF9A}" type="datetime1">
              <a:rPr lang="en-US" smtClean="0"/>
              <a:t>10/20/25</a:t>
            </a:fld>
            <a:endParaRPr lang="en-US"/>
          </a:p>
        </p:txBody>
      </p:sp>
      <p:sp>
        <p:nvSpPr>
          <p:cNvPr id="5" name="Footer Placeholder 4">
            <a:extLst>
              <a:ext uri="{FF2B5EF4-FFF2-40B4-BE49-F238E27FC236}">
                <a16:creationId xmlns:a16="http://schemas.microsoft.com/office/drawing/2014/main" id="{623BAA41-E2DC-7303-784B-5ECDB94438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FA7FB27-77D8-5647-58DA-3649E5F409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9496208-0396-4DEE-9187-2167066D100E}" type="slidenum">
              <a:rPr lang="en-US" smtClean="0"/>
              <a:t>‹#›</a:t>
            </a:fld>
            <a:endParaRPr lang="en-US"/>
          </a:p>
        </p:txBody>
      </p:sp>
    </p:spTree>
    <p:extLst>
      <p:ext uri="{BB962C8B-B14F-4D97-AF65-F5344CB8AC3E}">
        <p14:creationId xmlns:p14="http://schemas.microsoft.com/office/powerpoint/2010/main" val="30446672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mailto:boydclaire@finance.nyc.gov" TargetMode="Externa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hyperlink" Target="https://github.com/claireboyd" TargetMode="External"/><Relationship Id="rId4" Type="http://schemas.openxmlformats.org/officeDocument/2006/relationships/hyperlink" Target="mailto:hernandezpablo1995@gmail.com"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hyperlink" Target="https://docs.github.com/en/actions" TargetMode="External"/><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hyperlink" Target="https://github.com/nycdepartmentoffinance/github_actions_demo"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mailto:hernandezpablo1995@gmail.com" TargetMode="External"/><Relationship Id="rId2" Type="http://schemas.openxmlformats.org/officeDocument/2006/relationships/hyperlink" Target="mailto:boydclaire@finance.nyc.gov" TargetMode="External"/><Relationship Id="rId1" Type="http://schemas.openxmlformats.org/officeDocument/2006/relationships/slideLayout" Target="../slideLayouts/slideLayout3.xml"/><Relationship Id="rId5" Type="http://schemas.openxmlformats.org/officeDocument/2006/relationships/image" Target="../media/image4.jpeg"/><Relationship Id="rId4" Type="http://schemas.openxmlformats.org/officeDocument/2006/relationships/hyperlink" Target="https://github.com/claireboy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8B59D3B-6F66-1C7E-30CD-21D48E6EBA23}"/>
              </a:ext>
            </a:extLst>
          </p:cNvPr>
          <p:cNvSpPr>
            <a:spLocks noGrp="1"/>
          </p:cNvSpPr>
          <p:nvPr>
            <p:ph type="sldNum" sz="quarter" idx="12"/>
          </p:nvPr>
        </p:nvSpPr>
        <p:spPr/>
        <p:txBody>
          <a:bodyPr/>
          <a:lstStyle/>
          <a:p>
            <a:fld id="{B9496208-0396-4DEE-9187-2167066D100E}" type="slidenum">
              <a:rPr lang="en-US" smtClean="0"/>
              <a:t>1</a:t>
            </a:fld>
            <a:endParaRPr lang="en-US"/>
          </a:p>
        </p:txBody>
      </p:sp>
      <p:pic>
        <p:nvPicPr>
          <p:cNvPr id="7" name="Picture 6">
            <a:extLst>
              <a:ext uri="{FF2B5EF4-FFF2-40B4-BE49-F238E27FC236}">
                <a16:creationId xmlns:a16="http://schemas.microsoft.com/office/drawing/2014/main" id="{59E0ECD2-B9A7-470A-24F1-DADE17CBB93A}"/>
              </a:ext>
            </a:extLst>
          </p:cNvPr>
          <p:cNvPicPr>
            <a:picLocks noChangeAspect="1"/>
          </p:cNvPicPr>
          <p:nvPr/>
        </p:nvPicPr>
        <p:blipFill>
          <a:blip r:embed="rId2"/>
          <a:stretch>
            <a:fillRect/>
          </a:stretch>
        </p:blipFill>
        <p:spPr>
          <a:xfrm>
            <a:off x="0" y="3928"/>
            <a:ext cx="12192000" cy="6850144"/>
          </a:xfrm>
          <a:prstGeom prst="rect">
            <a:avLst/>
          </a:prstGeom>
        </p:spPr>
      </p:pic>
    </p:spTree>
    <p:extLst>
      <p:ext uri="{BB962C8B-B14F-4D97-AF65-F5344CB8AC3E}">
        <p14:creationId xmlns:p14="http://schemas.microsoft.com/office/powerpoint/2010/main" val="971035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2721C8-0A0D-93A3-2D49-9D0546F129F1}"/>
              </a:ext>
            </a:extLst>
          </p:cNvPr>
          <p:cNvSpPr>
            <a:spLocks noGrp="1"/>
          </p:cNvSpPr>
          <p:nvPr>
            <p:ph type="sldNum" sz="quarter" idx="12"/>
          </p:nvPr>
        </p:nvSpPr>
        <p:spPr/>
        <p:txBody>
          <a:bodyPr/>
          <a:lstStyle/>
          <a:p>
            <a:fld id="{B9496208-0396-4DEE-9187-2167066D100E}" type="slidenum">
              <a:rPr lang="en-US" smtClean="0"/>
              <a:t>2</a:t>
            </a:fld>
            <a:endParaRPr lang="en-US"/>
          </a:p>
        </p:txBody>
      </p:sp>
      <p:pic>
        <p:nvPicPr>
          <p:cNvPr id="4" name="Picture 3">
            <a:extLst>
              <a:ext uri="{FF2B5EF4-FFF2-40B4-BE49-F238E27FC236}">
                <a16:creationId xmlns:a16="http://schemas.microsoft.com/office/drawing/2014/main" id="{53DA8BE4-FA5F-DE60-78C7-7D4D7BC60CFD}"/>
              </a:ext>
            </a:extLst>
          </p:cNvPr>
          <p:cNvPicPr>
            <a:picLocks noChangeAspect="1"/>
          </p:cNvPicPr>
          <p:nvPr/>
        </p:nvPicPr>
        <p:blipFill>
          <a:blip r:embed="rId2"/>
          <a:stretch>
            <a:fillRect/>
          </a:stretch>
        </p:blipFill>
        <p:spPr>
          <a:xfrm>
            <a:off x="7308" y="0"/>
            <a:ext cx="12177383" cy="6858000"/>
          </a:xfrm>
          <a:prstGeom prst="rect">
            <a:avLst/>
          </a:prstGeom>
        </p:spPr>
      </p:pic>
    </p:spTree>
    <p:extLst>
      <p:ext uri="{BB962C8B-B14F-4D97-AF65-F5344CB8AC3E}">
        <p14:creationId xmlns:p14="http://schemas.microsoft.com/office/powerpoint/2010/main" val="25273151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09321-DE7E-9D8E-8AFA-0DB67C1AD89D}"/>
              </a:ext>
            </a:extLst>
          </p:cNvPr>
          <p:cNvSpPr>
            <a:spLocks noGrp="1"/>
          </p:cNvSpPr>
          <p:nvPr>
            <p:ph type="ctrTitle"/>
          </p:nvPr>
        </p:nvSpPr>
        <p:spPr>
          <a:xfrm>
            <a:off x="1524000" y="1399836"/>
            <a:ext cx="9144000" cy="1601918"/>
          </a:xfrm>
        </p:spPr>
        <p:txBody>
          <a:bodyPr>
            <a:normAutofit/>
          </a:bodyPr>
          <a:lstStyle/>
          <a:p>
            <a:r>
              <a:rPr lang="en-US" sz="3600" b="1" dirty="0">
                <a:latin typeface="HelveticaNeueforSAS" panose="020B0604020202020204" pitchFamily="34" charset="0"/>
              </a:rPr>
              <a:t>Automating tasks with                   Actions </a:t>
            </a:r>
          </a:p>
        </p:txBody>
      </p:sp>
      <p:sp>
        <p:nvSpPr>
          <p:cNvPr id="3" name="Subtitle 2">
            <a:extLst>
              <a:ext uri="{FF2B5EF4-FFF2-40B4-BE49-F238E27FC236}">
                <a16:creationId xmlns:a16="http://schemas.microsoft.com/office/drawing/2014/main" id="{B73AD75E-6159-858A-9D2E-E97A3680FC9A}"/>
              </a:ext>
            </a:extLst>
          </p:cNvPr>
          <p:cNvSpPr>
            <a:spLocks noGrp="1"/>
          </p:cNvSpPr>
          <p:nvPr>
            <p:ph type="subTitle" idx="1"/>
          </p:nvPr>
        </p:nvSpPr>
        <p:spPr>
          <a:xfrm>
            <a:off x="1383095" y="4291900"/>
            <a:ext cx="4269581" cy="1987407"/>
          </a:xfrm>
        </p:spPr>
        <p:txBody>
          <a:bodyPr>
            <a:normAutofit fontScale="85000" lnSpcReduction="20000"/>
          </a:bodyPr>
          <a:lstStyle/>
          <a:p>
            <a:r>
              <a:rPr lang="en-US" b="1" dirty="0">
                <a:latin typeface="HelveticaNeueforSAS" panose="020B0604020202020204" pitchFamily="34" charset="0"/>
              </a:rPr>
              <a:t>Claire Boyd</a:t>
            </a:r>
          </a:p>
          <a:p>
            <a:r>
              <a:rPr lang="en-US" i="1" dirty="0">
                <a:latin typeface="HelveticaNeueforSAS" panose="020B0604020202020204" pitchFamily="34" charset="0"/>
              </a:rPr>
              <a:t>Data Scientist</a:t>
            </a:r>
            <a:endParaRPr lang="en-US" dirty="0">
              <a:latin typeface="HelveticaNeueforSAS" panose="020B0604020202020204" pitchFamily="34" charset="0"/>
            </a:endParaRPr>
          </a:p>
          <a:p>
            <a:r>
              <a:rPr lang="en-US" b="0" i="0" dirty="0">
                <a:solidFill>
                  <a:srgbClr val="000000"/>
                </a:solidFill>
                <a:effectLst/>
                <a:latin typeface="Aptos" panose="020B0004020202020204" pitchFamily="34" charset="0"/>
              </a:rPr>
              <a:t>NYC Department of Finance, Property Modeling &amp; Valuation</a:t>
            </a:r>
          </a:p>
          <a:p>
            <a:r>
              <a:rPr lang="en-US" dirty="0">
                <a:solidFill>
                  <a:srgbClr val="000000"/>
                </a:solidFill>
                <a:latin typeface="Aptos" panose="020B0004020202020204" pitchFamily="34" charset="0"/>
                <a:hlinkClick r:id="rId2"/>
              </a:rPr>
              <a:t>boydclaire@finance.nyc.gov</a:t>
            </a:r>
            <a:endParaRPr lang="en-US" dirty="0">
              <a:solidFill>
                <a:srgbClr val="000000"/>
              </a:solidFill>
              <a:latin typeface="Aptos" panose="020B0004020202020204" pitchFamily="34" charset="0"/>
            </a:endParaRPr>
          </a:p>
          <a:p>
            <a:r>
              <a:rPr lang="en-US" b="0" i="0" dirty="0" err="1">
                <a:solidFill>
                  <a:srgbClr val="000000"/>
                </a:solidFill>
                <a:effectLst/>
                <a:latin typeface="Aptos" panose="020B0004020202020204" pitchFamily="34" charset="0"/>
              </a:rPr>
              <a:t>claireboyd</a:t>
            </a:r>
            <a:r>
              <a:rPr lang="en-US" b="0" i="0" dirty="0">
                <a:solidFill>
                  <a:srgbClr val="000000"/>
                </a:solidFill>
                <a:effectLst/>
                <a:latin typeface="Aptos" panose="020B0004020202020204" pitchFamily="34" charset="0"/>
              </a:rPr>
              <a:t> </a:t>
            </a:r>
          </a:p>
        </p:txBody>
      </p:sp>
      <p:pic>
        <p:nvPicPr>
          <p:cNvPr id="9218" name="Picture 2" descr="Github">
            <a:extLst>
              <a:ext uri="{FF2B5EF4-FFF2-40B4-BE49-F238E27FC236}">
                <a16:creationId xmlns:a16="http://schemas.microsoft.com/office/drawing/2014/main" id="{EA1C52D0-D9BB-7A67-710B-A433D3CB297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45" t="28626" r="5430" b="32374"/>
          <a:stretch>
            <a:fillRect/>
          </a:stretch>
        </p:blipFill>
        <p:spPr bwMode="auto">
          <a:xfrm>
            <a:off x="6630778" y="2321864"/>
            <a:ext cx="2120454" cy="679890"/>
          </a:xfrm>
          <a:prstGeom prst="rect">
            <a:avLst/>
          </a:prstGeom>
          <a:noFill/>
          <a:extLst>
            <a:ext uri="{909E8E84-426E-40DD-AFC4-6F175D3DCCD1}">
              <a14:hiddenFill xmlns:a14="http://schemas.microsoft.com/office/drawing/2010/main">
                <a:solidFill>
                  <a:srgbClr val="FFFFFF"/>
                </a:solidFill>
              </a14:hiddenFill>
            </a:ext>
          </a:extLst>
        </p:spPr>
      </p:pic>
      <p:sp>
        <p:nvSpPr>
          <p:cNvPr id="5" name="Subtitle 2">
            <a:extLst>
              <a:ext uri="{FF2B5EF4-FFF2-40B4-BE49-F238E27FC236}">
                <a16:creationId xmlns:a16="http://schemas.microsoft.com/office/drawing/2014/main" id="{7C1CA65B-C8E3-B501-2B47-155B22C4CBAA}"/>
              </a:ext>
            </a:extLst>
          </p:cNvPr>
          <p:cNvSpPr txBox="1">
            <a:spLocks/>
          </p:cNvSpPr>
          <p:nvPr/>
        </p:nvSpPr>
        <p:spPr>
          <a:xfrm>
            <a:off x="6114639" y="4291901"/>
            <a:ext cx="4965366" cy="1987406"/>
          </a:xfrm>
          <a:prstGeom prst="rect">
            <a:avLst/>
          </a:prstGeom>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latin typeface="HelveticaNeueforSAS" panose="020B0604020202020204" pitchFamily="34" charset="0"/>
              </a:rPr>
              <a:t>Pablo Hernandez</a:t>
            </a:r>
          </a:p>
          <a:p>
            <a:r>
              <a:rPr lang="en-US" i="1" dirty="0">
                <a:latin typeface="HelveticaNeueforSAS" panose="020B0604020202020204" pitchFamily="34" charset="0"/>
              </a:rPr>
              <a:t>Data Science Intern, UChicago Student</a:t>
            </a:r>
            <a:endParaRPr lang="en-US" dirty="0">
              <a:latin typeface="HelveticaNeueforSAS" panose="020B0604020202020204" pitchFamily="34" charset="0"/>
            </a:endParaRPr>
          </a:p>
          <a:p>
            <a:r>
              <a:rPr lang="en-US" dirty="0">
                <a:solidFill>
                  <a:srgbClr val="000000"/>
                </a:solidFill>
                <a:latin typeface="Aptos" panose="020B0004020202020204" pitchFamily="34" charset="0"/>
              </a:rPr>
              <a:t>NYC Department of Finance, Property Modeling &amp; Valuation</a:t>
            </a:r>
          </a:p>
          <a:p>
            <a:r>
              <a:rPr lang="en-US" dirty="0">
                <a:hlinkClick r:id="rId4" tooltip="mailto:hernandezpablo1995@gmail.com"/>
              </a:rPr>
              <a:t>hernandezpablo1995@gmail.com</a:t>
            </a:r>
            <a:endParaRPr lang="en-US" dirty="0"/>
          </a:p>
          <a:p>
            <a:r>
              <a:rPr lang="en-US" dirty="0">
                <a:solidFill>
                  <a:srgbClr val="000000"/>
                </a:solidFill>
                <a:latin typeface="Aptos" panose="020B0004020202020204" pitchFamily="34" charset="0"/>
              </a:rPr>
              <a:t>pabloher95</a:t>
            </a:r>
          </a:p>
        </p:txBody>
      </p:sp>
      <p:pic>
        <p:nvPicPr>
          <p:cNvPr id="1026" name="Picture 2">
            <a:hlinkClick r:id="rId5"/>
            <a:extLst>
              <a:ext uri="{FF2B5EF4-FFF2-40B4-BE49-F238E27FC236}">
                <a16:creationId xmlns:a16="http://schemas.microsoft.com/office/drawing/2014/main" id="{D9942799-2F78-2187-2864-F70131B7F6A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4503" y="5919426"/>
            <a:ext cx="266700" cy="1524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hlinkClick r:id="rId5"/>
            <a:extLst>
              <a:ext uri="{FF2B5EF4-FFF2-40B4-BE49-F238E27FC236}">
                <a16:creationId xmlns:a16="http://schemas.microsoft.com/office/drawing/2014/main" id="{4CC89102-8234-86C8-2EE5-0B74F6287F9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53764" y="5919426"/>
            <a:ext cx="266700" cy="15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072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0DA55-DEFE-2E41-E237-F6C900B26C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B2AAD8-0BDC-0D99-479A-A7E6B0BDF17C}"/>
              </a:ext>
            </a:extLst>
          </p:cNvPr>
          <p:cNvSpPr>
            <a:spLocks noGrp="1"/>
          </p:cNvSpPr>
          <p:nvPr>
            <p:ph type="title"/>
          </p:nvPr>
        </p:nvSpPr>
        <p:spPr>
          <a:xfrm>
            <a:off x="836612" y="-114300"/>
            <a:ext cx="3932237" cy="1600200"/>
          </a:xfrm>
        </p:spPr>
        <p:txBody>
          <a:bodyPr/>
          <a:lstStyle/>
          <a:p>
            <a:r>
              <a:rPr lang="en-US" dirty="0"/>
              <a:t>Agenda</a:t>
            </a:r>
          </a:p>
        </p:txBody>
      </p:sp>
      <p:sp>
        <p:nvSpPr>
          <p:cNvPr id="4" name="Text Placeholder 3">
            <a:extLst>
              <a:ext uri="{FF2B5EF4-FFF2-40B4-BE49-F238E27FC236}">
                <a16:creationId xmlns:a16="http://schemas.microsoft.com/office/drawing/2014/main" id="{D96221AE-8D80-3C88-52BE-FF3CE43B814A}"/>
              </a:ext>
            </a:extLst>
          </p:cNvPr>
          <p:cNvSpPr>
            <a:spLocks noGrp="1"/>
          </p:cNvSpPr>
          <p:nvPr>
            <p:ph type="body" sz="half" idx="2"/>
          </p:nvPr>
        </p:nvSpPr>
        <p:spPr>
          <a:xfrm>
            <a:off x="836612" y="1639614"/>
            <a:ext cx="10350501" cy="4221436"/>
          </a:xfrm>
        </p:spPr>
        <p:txBody>
          <a:bodyPr>
            <a:normAutofit/>
          </a:bodyPr>
          <a:lstStyle/>
          <a:p>
            <a:pPr marL="285750" indent="-285750">
              <a:buFont typeface="Arial" panose="020B0604020202020204" pitchFamily="34" charset="0"/>
              <a:buChar char="•"/>
            </a:pPr>
            <a:r>
              <a:rPr lang="en-US" sz="2000" dirty="0"/>
              <a:t>Our task</a:t>
            </a:r>
          </a:p>
          <a:p>
            <a:pPr marL="285750" indent="-285750">
              <a:buFont typeface="Arial" panose="020B0604020202020204" pitchFamily="34" charset="0"/>
              <a:buChar char="•"/>
            </a:pPr>
            <a:r>
              <a:rPr lang="en-US" sz="2000" dirty="0"/>
              <a:t>How do we use GitHub actions to automate tasks?</a:t>
            </a:r>
          </a:p>
          <a:p>
            <a:pPr marL="285750" indent="-285750">
              <a:buFont typeface="Arial" panose="020B0604020202020204" pitchFamily="34" charset="0"/>
              <a:buChar char="•"/>
            </a:pPr>
            <a:r>
              <a:rPr lang="en-US" sz="2000" dirty="0"/>
              <a:t>How has this changed our internal processes?</a:t>
            </a:r>
          </a:p>
          <a:p>
            <a:pPr marL="285750" indent="-285750">
              <a:buFont typeface="Arial" panose="020B0604020202020204" pitchFamily="34" charset="0"/>
              <a:buChar char="•"/>
            </a:pPr>
            <a:r>
              <a:rPr lang="en-US" sz="2000" dirty="0"/>
              <a:t>What did we learn that we might do differently?</a:t>
            </a:r>
          </a:p>
          <a:p>
            <a:pPr marL="285750" indent="-285750">
              <a:buFont typeface="Arial" panose="020B0604020202020204" pitchFamily="34" charset="0"/>
              <a:buChar char="•"/>
            </a:pPr>
            <a:r>
              <a:rPr lang="en-US" sz="2000" dirty="0"/>
              <a:t>What else can we do with GitHub Actions?</a:t>
            </a:r>
          </a:p>
          <a:p>
            <a:pPr marL="285750" indent="-285750">
              <a:buFont typeface="Arial" panose="020B0604020202020204" pitchFamily="34" charset="0"/>
              <a:buChar char="•"/>
            </a:pPr>
            <a:endParaRPr lang="en-US" sz="2000" dirty="0"/>
          </a:p>
        </p:txBody>
      </p:sp>
      <p:sp>
        <p:nvSpPr>
          <p:cNvPr id="5" name="Slide Number Placeholder 4">
            <a:extLst>
              <a:ext uri="{FF2B5EF4-FFF2-40B4-BE49-F238E27FC236}">
                <a16:creationId xmlns:a16="http://schemas.microsoft.com/office/drawing/2014/main" id="{A1CA600A-FFDB-0617-035F-13C147FE3771}"/>
              </a:ext>
            </a:extLst>
          </p:cNvPr>
          <p:cNvSpPr>
            <a:spLocks noGrp="1"/>
          </p:cNvSpPr>
          <p:nvPr>
            <p:ph type="sldNum" sz="quarter" idx="12"/>
          </p:nvPr>
        </p:nvSpPr>
        <p:spPr/>
        <p:txBody>
          <a:bodyPr/>
          <a:lstStyle/>
          <a:p>
            <a:fld id="{B9496208-0396-4DEE-9187-2167066D100E}" type="slidenum">
              <a:rPr lang="en-US" smtClean="0"/>
              <a:t>4</a:t>
            </a:fld>
            <a:endParaRPr lang="en-US"/>
          </a:p>
        </p:txBody>
      </p:sp>
      <p:pic>
        <p:nvPicPr>
          <p:cNvPr id="12" name="Picture 11">
            <a:extLst>
              <a:ext uri="{FF2B5EF4-FFF2-40B4-BE49-F238E27FC236}">
                <a16:creationId xmlns:a16="http://schemas.microsoft.com/office/drawing/2014/main" id="{E5357556-94B2-4B56-876E-5FD135B82C61}"/>
              </a:ext>
            </a:extLst>
          </p:cNvPr>
          <p:cNvPicPr>
            <a:picLocks noChangeAspect="1"/>
          </p:cNvPicPr>
          <p:nvPr/>
        </p:nvPicPr>
        <p:blipFill>
          <a:blip r:embed="rId3"/>
          <a:stretch>
            <a:fillRect/>
          </a:stretch>
        </p:blipFill>
        <p:spPr>
          <a:xfrm>
            <a:off x="176576" y="6100895"/>
            <a:ext cx="1171809" cy="686922"/>
          </a:xfrm>
          <a:prstGeom prst="rect">
            <a:avLst/>
          </a:prstGeom>
        </p:spPr>
      </p:pic>
    </p:spTree>
    <p:extLst>
      <p:ext uri="{BB962C8B-B14F-4D97-AF65-F5344CB8AC3E}">
        <p14:creationId xmlns:p14="http://schemas.microsoft.com/office/powerpoint/2010/main" val="3164417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B34BA-1551-B549-85F1-650511D372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C5B2FD-AFCB-3968-5CFE-D4C7BB1EF931}"/>
              </a:ext>
            </a:extLst>
          </p:cNvPr>
          <p:cNvSpPr>
            <a:spLocks noGrp="1"/>
          </p:cNvSpPr>
          <p:nvPr>
            <p:ph type="title"/>
          </p:nvPr>
        </p:nvSpPr>
        <p:spPr/>
        <p:txBody>
          <a:bodyPr/>
          <a:lstStyle/>
          <a:p>
            <a:r>
              <a:rPr lang="en-US" dirty="0"/>
              <a:t>Our task</a:t>
            </a:r>
          </a:p>
        </p:txBody>
      </p:sp>
      <p:sp>
        <p:nvSpPr>
          <p:cNvPr id="4" name="Slide Number Placeholder 3">
            <a:extLst>
              <a:ext uri="{FF2B5EF4-FFF2-40B4-BE49-F238E27FC236}">
                <a16:creationId xmlns:a16="http://schemas.microsoft.com/office/drawing/2014/main" id="{C66FBFD5-DF54-4D9B-1F84-774DE89D82BC}"/>
              </a:ext>
            </a:extLst>
          </p:cNvPr>
          <p:cNvSpPr>
            <a:spLocks noGrp="1"/>
          </p:cNvSpPr>
          <p:nvPr>
            <p:ph type="sldNum" sz="quarter" idx="12"/>
          </p:nvPr>
        </p:nvSpPr>
        <p:spPr/>
        <p:txBody>
          <a:bodyPr/>
          <a:lstStyle/>
          <a:p>
            <a:fld id="{B9496208-0396-4DEE-9187-2167066D100E}" type="slidenum">
              <a:rPr lang="en-US" smtClean="0"/>
              <a:t>5</a:t>
            </a:fld>
            <a:endParaRPr lang="en-US"/>
          </a:p>
        </p:txBody>
      </p:sp>
    </p:spTree>
    <p:extLst>
      <p:ext uri="{BB962C8B-B14F-4D97-AF65-F5344CB8AC3E}">
        <p14:creationId xmlns:p14="http://schemas.microsoft.com/office/powerpoint/2010/main" val="1963076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C3FDC-D084-07DC-ED2A-7E9332CC71E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3543B07-B8CD-C1FF-BB50-45C2A74F6E2D}"/>
              </a:ext>
            </a:extLst>
          </p:cNvPr>
          <p:cNvSpPr>
            <a:spLocks noGrp="1"/>
          </p:cNvSpPr>
          <p:nvPr>
            <p:ph type="sldNum" sz="quarter" idx="12"/>
          </p:nvPr>
        </p:nvSpPr>
        <p:spPr/>
        <p:txBody>
          <a:bodyPr/>
          <a:lstStyle/>
          <a:p>
            <a:fld id="{B9496208-0396-4DEE-9187-2167066D100E}" type="slidenum">
              <a:rPr lang="en-US" smtClean="0"/>
              <a:t>6</a:t>
            </a:fld>
            <a:endParaRPr lang="en-US"/>
          </a:p>
        </p:txBody>
      </p:sp>
      <p:sp>
        <p:nvSpPr>
          <p:cNvPr id="5" name="TextBox 4">
            <a:extLst>
              <a:ext uri="{FF2B5EF4-FFF2-40B4-BE49-F238E27FC236}">
                <a16:creationId xmlns:a16="http://schemas.microsoft.com/office/drawing/2014/main" id="{58DD21C9-5F9B-2AFE-669E-C8338AB66697}"/>
              </a:ext>
            </a:extLst>
          </p:cNvPr>
          <p:cNvSpPr txBox="1"/>
          <p:nvPr/>
        </p:nvSpPr>
        <p:spPr>
          <a:xfrm>
            <a:off x="478499" y="589583"/>
            <a:ext cx="11068042" cy="523220"/>
          </a:xfrm>
          <a:prstGeom prst="rect">
            <a:avLst/>
          </a:prstGeom>
          <a:noFill/>
        </p:spPr>
        <p:txBody>
          <a:bodyPr wrap="square" rtlCol="0">
            <a:spAutoFit/>
          </a:bodyPr>
          <a:lstStyle/>
          <a:p>
            <a:r>
              <a:rPr lang="en-US" sz="2800" b="1" dirty="0"/>
              <a:t>Property Modeling </a:t>
            </a:r>
            <a:r>
              <a:rPr lang="en-US" sz="2800" dirty="0"/>
              <a:t>@ NYC Department of Finance</a:t>
            </a:r>
            <a:endParaRPr lang="en-US" sz="2800" i="1" dirty="0"/>
          </a:p>
        </p:txBody>
      </p:sp>
      <p:pic>
        <p:nvPicPr>
          <p:cNvPr id="8" name="Picture 7">
            <a:extLst>
              <a:ext uri="{FF2B5EF4-FFF2-40B4-BE49-F238E27FC236}">
                <a16:creationId xmlns:a16="http://schemas.microsoft.com/office/drawing/2014/main" id="{8E7BB460-627B-0043-6AB2-3EA24D5FA100}"/>
              </a:ext>
            </a:extLst>
          </p:cNvPr>
          <p:cNvPicPr>
            <a:picLocks noChangeAspect="1"/>
          </p:cNvPicPr>
          <p:nvPr/>
        </p:nvPicPr>
        <p:blipFill>
          <a:blip r:embed="rId2"/>
          <a:stretch>
            <a:fillRect/>
          </a:stretch>
        </p:blipFill>
        <p:spPr>
          <a:xfrm>
            <a:off x="176576" y="6100895"/>
            <a:ext cx="1171809" cy="686922"/>
          </a:xfrm>
          <a:prstGeom prst="rect">
            <a:avLst/>
          </a:prstGeom>
        </p:spPr>
      </p:pic>
      <p:sp>
        <p:nvSpPr>
          <p:cNvPr id="2" name="TextBox 1">
            <a:extLst>
              <a:ext uri="{FF2B5EF4-FFF2-40B4-BE49-F238E27FC236}">
                <a16:creationId xmlns:a16="http://schemas.microsoft.com/office/drawing/2014/main" id="{79B77218-987F-3C0D-CD3E-51C9E33B568D}"/>
              </a:ext>
            </a:extLst>
          </p:cNvPr>
          <p:cNvSpPr txBox="1"/>
          <p:nvPr/>
        </p:nvSpPr>
        <p:spPr>
          <a:xfrm>
            <a:off x="645458" y="1425388"/>
            <a:ext cx="10497609" cy="4524315"/>
          </a:xfrm>
          <a:prstGeom prst="rect">
            <a:avLst/>
          </a:prstGeom>
          <a:noFill/>
        </p:spPr>
        <p:txBody>
          <a:bodyPr wrap="square" rtlCol="0">
            <a:spAutoFit/>
          </a:bodyPr>
          <a:lstStyle/>
          <a:p>
            <a:pPr marL="285750" indent="-285750">
              <a:buFont typeface="Arial" panose="020B0604020202020204" pitchFamily="34" charset="0"/>
              <a:buChar char="•"/>
            </a:pPr>
            <a:r>
              <a:rPr lang="en-US" sz="2400" dirty="0"/>
              <a:t>Our team’s core function is to </a:t>
            </a:r>
            <a:r>
              <a:rPr lang="en-US" sz="2400" b="1" dirty="0"/>
              <a:t>model the market value of all ~1.2M residential and commercial properties in New York City annually </a:t>
            </a:r>
            <a:r>
              <a:rPr lang="en-US" sz="2400" dirty="0"/>
              <a:t>in order to tax all property owners equitably.</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To do this, we rely on both internal and external data on individual property characteristics as well as </a:t>
            </a:r>
            <a:r>
              <a:rPr lang="en-US" sz="2400" b="1" dirty="0"/>
              <a:t>geospatial characteristics </a:t>
            </a:r>
            <a:r>
              <a:rPr lang="en-US" sz="2400" dirty="0"/>
              <a:t>to most accurately capture market value. Our work relies on </a:t>
            </a:r>
            <a:r>
              <a:rPr lang="en-US" sz="2400" b="1" dirty="0"/>
              <a:t>accurate, up-to-date maps </a:t>
            </a:r>
            <a:r>
              <a:rPr lang="en-US" sz="2400" dirty="0"/>
              <a:t>for geospatial workflows that help us highlight otherwise obscure patterns in the property market. Digital geometries are the key resource to link geographic attributes (boundaries, zoning) to each and every parcel.</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b="1" dirty="0"/>
              <a:t>Task</a:t>
            </a:r>
            <a:r>
              <a:rPr lang="en-US" sz="2400" dirty="0"/>
              <a:t>: Get analysis-ready geometries for tax boundaries in </a:t>
            </a:r>
            <a:r>
              <a:rPr lang="en-US" sz="2400" i="1" dirty="0"/>
              <a:t>(close to) </a:t>
            </a:r>
            <a:r>
              <a:rPr lang="en-US" sz="2400" dirty="0"/>
              <a:t>real time</a:t>
            </a:r>
          </a:p>
        </p:txBody>
      </p:sp>
    </p:spTree>
    <p:extLst>
      <p:ext uri="{BB962C8B-B14F-4D97-AF65-F5344CB8AC3E}">
        <p14:creationId xmlns:p14="http://schemas.microsoft.com/office/powerpoint/2010/main" val="34582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EE73255-8084-4DF9-BB0B-15EAC92E2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7FE7EA-76B3-35E8-C5EF-015EAC121173}"/>
              </a:ext>
            </a:extLst>
          </p:cNvPr>
          <p:cNvSpPr>
            <a:spLocks noGrp="1"/>
          </p:cNvSpPr>
          <p:nvPr>
            <p:ph type="title"/>
          </p:nvPr>
        </p:nvSpPr>
        <p:spPr>
          <a:xfrm>
            <a:off x="424011" y="879717"/>
            <a:ext cx="2732045" cy="5257799"/>
          </a:xfrm>
        </p:spPr>
        <p:txBody>
          <a:bodyPr vert="horz" lIns="91440" tIns="45720" rIns="91440" bIns="45720" rtlCol="0" anchor="ctr">
            <a:normAutofit/>
          </a:bodyPr>
          <a:lstStyle/>
          <a:p>
            <a:r>
              <a:rPr lang="en-US" sz="2400">
                <a:solidFill>
                  <a:srgbClr val="2C2C2C"/>
                </a:solidFill>
              </a:rPr>
              <a:t>DOF’s Property Tax Map team provides </a:t>
            </a:r>
            <a:r>
              <a:rPr lang="en-US" sz="2400" b="1" i="1">
                <a:solidFill>
                  <a:srgbClr val="2C2C2C"/>
                </a:solidFill>
              </a:rPr>
              <a:t>daily updates </a:t>
            </a:r>
            <a:r>
              <a:rPr lang="en-US" sz="2400">
                <a:solidFill>
                  <a:srgbClr val="2C2C2C"/>
                </a:solidFill>
              </a:rPr>
              <a:t>to the feature collection, which is hosted on the Esri API for open access </a:t>
            </a:r>
            <a:endParaRPr lang="en-US" sz="2400" dirty="0">
              <a:solidFill>
                <a:srgbClr val="2C2C2C"/>
              </a:solidFill>
            </a:endParaRPr>
          </a:p>
        </p:txBody>
      </p:sp>
      <p:sp>
        <p:nvSpPr>
          <p:cNvPr id="14" name="Rounded Rectangle 9">
            <a:extLst>
              <a:ext uri="{FF2B5EF4-FFF2-40B4-BE49-F238E27FC236}">
                <a16:creationId xmlns:a16="http://schemas.microsoft.com/office/drawing/2014/main" id="{67048353-8981-459A-9BC6-9711CE462E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0067"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Placeholder 6">
            <a:extLst>
              <a:ext uri="{FF2B5EF4-FFF2-40B4-BE49-F238E27FC236}">
                <a16:creationId xmlns:a16="http://schemas.microsoft.com/office/drawing/2014/main" id="{F3A6F912-2D3A-F70A-B6EC-7328BC389544}"/>
              </a:ext>
            </a:extLst>
          </p:cNvPr>
          <p:cNvPicPr>
            <a:picLocks noGrp="1" noChangeAspect="1"/>
          </p:cNvPicPr>
          <p:nvPr>
            <p:ph type="pic" idx="1"/>
          </p:nvPr>
        </p:nvPicPr>
        <p:blipFill>
          <a:blip r:embed="rId2"/>
          <a:srcRect r="2419" b="-2"/>
          <a:stretch>
            <a:fillRect/>
          </a:stretch>
        </p:blipFill>
        <p:spPr>
          <a:xfrm>
            <a:off x="3677268" y="705980"/>
            <a:ext cx="7910794" cy="5310142"/>
          </a:xfrm>
          <a:prstGeom prst="rect">
            <a:avLst/>
          </a:prstGeom>
          <a:effectLst/>
        </p:spPr>
      </p:pic>
      <p:sp>
        <p:nvSpPr>
          <p:cNvPr id="5" name="Slide Number Placeholder 4">
            <a:extLst>
              <a:ext uri="{FF2B5EF4-FFF2-40B4-BE49-F238E27FC236}">
                <a16:creationId xmlns:a16="http://schemas.microsoft.com/office/drawing/2014/main" id="{990A9762-3E89-6B83-3ECD-9408FAD975F0}"/>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457200">
              <a:spcAft>
                <a:spcPts val="600"/>
              </a:spcAft>
            </a:pPr>
            <a:fld id="{B9496208-0396-4DEE-9187-2167066D100E}" type="slidenum">
              <a:rPr lang="en-US">
                <a:solidFill>
                  <a:srgbClr val="595959"/>
                </a:solidFill>
              </a:rPr>
              <a:pPr defTabSz="457200">
                <a:spcAft>
                  <a:spcPts val="600"/>
                </a:spcAft>
              </a:pPr>
              <a:t>7</a:t>
            </a:fld>
            <a:endParaRPr lang="en-US">
              <a:solidFill>
                <a:srgbClr val="595959"/>
              </a:solidFill>
            </a:endParaRPr>
          </a:p>
        </p:txBody>
      </p:sp>
    </p:spTree>
    <p:extLst>
      <p:ext uri="{BB962C8B-B14F-4D97-AF65-F5344CB8AC3E}">
        <p14:creationId xmlns:p14="http://schemas.microsoft.com/office/powerpoint/2010/main" val="2573027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7D601-242A-8044-9131-D304E64B360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F751C1-C894-86AC-B893-824921D9C98B}"/>
              </a:ext>
            </a:extLst>
          </p:cNvPr>
          <p:cNvSpPr>
            <a:spLocks noGrp="1"/>
          </p:cNvSpPr>
          <p:nvPr>
            <p:ph type="sldNum" sz="quarter" idx="12"/>
          </p:nvPr>
        </p:nvSpPr>
        <p:spPr/>
        <p:txBody>
          <a:bodyPr/>
          <a:lstStyle/>
          <a:p>
            <a:fld id="{B9496208-0396-4DEE-9187-2167066D100E}" type="slidenum">
              <a:rPr lang="en-US" smtClean="0"/>
              <a:t>8</a:t>
            </a:fld>
            <a:endParaRPr lang="en-US"/>
          </a:p>
        </p:txBody>
      </p:sp>
      <p:sp>
        <p:nvSpPr>
          <p:cNvPr id="5" name="TextBox 4">
            <a:extLst>
              <a:ext uri="{FF2B5EF4-FFF2-40B4-BE49-F238E27FC236}">
                <a16:creationId xmlns:a16="http://schemas.microsoft.com/office/drawing/2014/main" id="{F3A3DCE8-686E-1BDB-F3EC-C75B44339A96}"/>
              </a:ext>
            </a:extLst>
          </p:cNvPr>
          <p:cNvSpPr txBox="1"/>
          <p:nvPr/>
        </p:nvSpPr>
        <p:spPr>
          <a:xfrm>
            <a:off x="478499" y="589583"/>
            <a:ext cx="11068042" cy="523220"/>
          </a:xfrm>
          <a:prstGeom prst="rect">
            <a:avLst/>
          </a:prstGeom>
          <a:noFill/>
        </p:spPr>
        <p:txBody>
          <a:bodyPr wrap="square" rtlCol="0">
            <a:spAutoFit/>
          </a:bodyPr>
          <a:lstStyle/>
          <a:p>
            <a:r>
              <a:rPr lang="en-US" sz="2800" b="1" dirty="0"/>
              <a:t>Previous approach</a:t>
            </a:r>
            <a:endParaRPr lang="en-US" sz="2800" i="1" dirty="0"/>
          </a:p>
        </p:txBody>
      </p:sp>
      <p:pic>
        <p:nvPicPr>
          <p:cNvPr id="8" name="Picture 7">
            <a:extLst>
              <a:ext uri="{FF2B5EF4-FFF2-40B4-BE49-F238E27FC236}">
                <a16:creationId xmlns:a16="http://schemas.microsoft.com/office/drawing/2014/main" id="{8D7F251D-49FE-7F1D-6B68-5F0B0A0BA3EC}"/>
              </a:ext>
            </a:extLst>
          </p:cNvPr>
          <p:cNvPicPr>
            <a:picLocks noChangeAspect="1"/>
          </p:cNvPicPr>
          <p:nvPr/>
        </p:nvPicPr>
        <p:blipFill>
          <a:blip r:embed="rId2"/>
          <a:stretch>
            <a:fillRect/>
          </a:stretch>
        </p:blipFill>
        <p:spPr>
          <a:xfrm>
            <a:off x="176576" y="6100895"/>
            <a:ext cx="1171809" cy="686922"/>
          </a:xfrm>
          <a:prstGeom prst="rect">
            <a:avLst/>
          </a:prstGeom>
        </p:spPr>
      </p:pic>
      <p:sp>
        <p:nvSpPr>
          <p:cNvPr id="7" name="TextBox 6">
            <a:extLst>
              <a:ext uri="{FF2B5EF4-FFF2-40B4-BE49-F238E27FC236}">
                <a16:creationId xmlns:a16="http://schemas.microsoft.com/office/drawing/2014/main" id="{BA12F22D-AEE1-FA65-48D7-08B511770C36}"/>
              </a:ext>
            </a:extLst>
          </p:cNvPr>
          <p:cNvSpPr txBox="1"/>
          <p:nvPr/>
        </p:nvSpPr>
        <p:spPr>
          <a:xfrm>
            <a:off x="531948" y="1223590"/>
            <a:ext cx="10421470" cy="400110"/>
          </a:xfrm>
          <a:prstGeom prst="rect">
            <a:avLst/>
          </a:prstGeom>
          <a:noFill/>
        </p:spPr>
        <p:txBody>
          <a:bodyPr wrap="square" rtlCol="0">
            <a:spAutoFit/>
          </a:bodyPr>
          <a:lstStyle/>
          <a:p>
            <a:r>
              <a:rPr lang="en" sz="2000" i="1" dirty="0"/>
              <a:t>Manually download layers, ad hoc data processing, local storage, out-of-date file sharing </a:t>
            </a:r>
            <a:endParaRPr lang="en-US" sz="2000" i="1" dirty="0"/>
          </a:p>
        </p:txBody>
      </p:sp>
      <p:pic>
        <p:nvPicPr>
          <p:cNvPr id="12" name="Picture 11">
            <a:extLst>
              <a:ext uri="{FF2B5EF4-FFF2-40B4-BE49-F238E27FC236}">
                <a16:creationId xmlns:a16="http://schemas.microsoft.com/office/drawing/2014/main" id="{6435C512-82AE-DDEE-31B1-DB6127E5AB55}"/>
              </a:ext>
            </a:extLst>
          </p:cNvPr>
          <p:cNvPicPr>
            <a:picLocks noChangeAspect="1"/>
          </p:cNvPicPr>
          <p:nvPr/>
        </p:nvPicPr>
        <p:blipFill>
          <a:blip r:embed="rId3"/>
          <a:stretch>
            <a:fillRect/>
          </a:stretch>
        </p:blipFill>
        <p:spPr>
          <a:xfrm>
            <a:off x="478499" y="2118545"/>
            <a:ext cx="4410635" cy="3742959"/>
          </a:xfrm>
          <a:prstGeom prst="rect">
            <a:avLst/>
          </a:prstGeom>
        </p:spPr>
      </p:pic>
      <p:sp>
        <p:nvSpPr>
          <p:cNvPr id="14" name="TextBox 13">
            <a:extLst>
              <a:ext uri="{FF2B5EF4-FFF2-40B4-BE49-F238E27FC236}">
                <a16:creationId xmlns:a16="http://schemas.microsoft.com/office/drawing/2014/main" id="{7E63A2B4-B5D2-FEFC-1734-EF082C405470}"/>
              </a:ext>
            </a:extLst>
          </p:cNvPr>
          <p:cNvSpPr txBox="1"/>
          <p:nvPr/>
        </p:nvSpPr>
        <p:spPr>
          <a:xfrm>
            <a:off x="6725532" y="1823791"/>
            <a:ext cx="5562075" cy="707886"/>
          </a:xfrm>
          <a:prstGeom prst="rect">
            <a:avLst/>
          </a:prstGeom>
          <a:noFill/>
        </p:spPr>
        <p:txBody>
          <a:bodyPr wrap="square" rtlCol="0">
            <a:spAutoFit/>
          </a:bodyPr>
          <a:lstStyle/>
          <a:p>
            <a:r>
              <a:rPr lang="en" sz="2000" b="1" dirty="0"/>
              <a:t>Locally Export &amp; Store Shapefiles </a:t>
            </a:r>
          </a:p>
          <a:p>
            <a:r>
              <a:rPr lang="en" sz="2000" i="1" dirty="0"/>
              <a:t>(for polygons or centroids)</a:t>
            </a:r>
            <a:endParaRPr lang="en-US" sz="2000" i="1" dirty="0"/>
          </a:p>
        </p:txBody>
      </p:sp>
      <p:cxnSp>
        <p:nvCxnSpPr>
          <p:cNvPr id="16" name="Straight Arrow Connector 15">
            <a:extLst>
              <a:ext uri="{FF2B5EF4-FFF2-40B4-BE49-F238E27FC236}">
                <a16:creationId xmlns:a16="http://schemas.microsoft.com/office/drawing/2014/main" id="{4B21FA2D-148E-4A41-8620-49011A470FF1}"/>
              </a:ext>
            </a:extLst>
          </p:cNvPr>
          <p:cNvCxnSpPr>
            <a:cxnSpLocks/>
          </p:cNvCxnSpPr>
          <p:nvPr/>
        </p:nvCxnSpPr>
        <p:spPr>
          <a:xfrm flipV="1">
            <a:off x="5057578" y="2134597"/>
            <a:ext cx="1620695" cy="5518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22D2307B-C448-ED09-FB56-B5EF939AEBA1}"/>
              </a:ext>
            </a:extLst>
          </p:cNvPr>
          <p:cNvSpPr txBox="1"/>
          <p:nvPr/>
        </p:nvSpPr>
        <p:spPr>
          <a:xfrm>
            <a:off x="371292" y="1734487"/>
            <a:ext cx="6534003" cy="400110"/>
          </a:xfrm>
          <a:prstGeom prst="rect">
            <a:avLst/>
          </a:prstGeom>
          <a:noFill/>
        </p:spPr>
        <p:txBody>
          <a:bodyPr wrap="square" rtlCol="0">
            <a:spAutoFit/>
          </a:bodyPr>
          <a:lstStyle/>
          <a:p>
            <a:r>
              <a:rPr lang="en" sz="2000" b="1" dirty="0"/>
              <a:t>Update Layer &amp; Dissolve By Geography in ArcGIS Pro</a:t>
            </a:r>
            <a:endParaRPr lang="en-US" sz="2000" b="1" dirty="0"/>
          </a:p>
        </p:txBody>
      </p:sp>
      <p:pic>
        <p:nvPicPr>
          <p:cNvPr id="20" name="Picture 19">
            <a:extLst>
              <a:ext uri="{FF2B5EF4-FFF2-40B4-BE49-F238E27FC236}">
                <a16:creationId xmlns:a16="http://schemas.microsoft.com/office/drawing/2014/main" id="{836BC664-265B-7158-D1DF-8AA1FFB753E5}"/>
              </a:ext>
            </a:extLst>
          </p:cNvPr>
          <p:cNvPicPr>
            <a:picLocks noChangeAspect="1"/>
          </p:cNvPicPr>
          <p:nvPr/>
        </p:nvPicPr>
        <p:blipFill>
          <a:blip r:embed="rId4"/>
          <a:stretch>
            <a:fillRect/>
          </a:stretch>
        </p:blipFill>
        <p:spPr>
          <a:xfrm>
            <a:off x="6846717" y="2517344"/>
            <a:ext cx="3720111" cy="1383596"/>
          </a:xfrm>
          <a:prstGeom prst="rect">
            <a:avLst/>
          </a:prstGeom>
        </p:spPr>
      </p:pic>
      <p:sp>
        <p:nvSpPr>
          <p:cNvPr id="22" name="TextBox 21">
            <a:extLst>
              <a:ext uri="{FF2B5EF4-FFF2-40B4-BE49-F238E27FC236}">
                <a16:creationId xmlns:a16="http://schemas.microsoft.com/office/drawing/2014/main" id="{0F16770C-92F5-CE5D-D041-AA14BD8D75E1}"/>
              </a:ext>
            </a:extLst>
          </p:cNvPr>
          <p:cNvSpPr txBox="1"/>
          <p:nvPr/>
        </p:nvSpPr>
        <p:spPr>
          <a:xfrm>
            <a:off x="7000735" y="4649947"/>
            <a:ext cx="5089109" cy="707886"/>
          </a:xfrm>
          <a:prstGeom prst="rect">
            <a:avLst/>
          </a:prstGeom>
          <a:noFill/>
        </p:spPr>
        <p:txBody>
          <a:bodyPr wrap="square" rtlCol="0">
            <a:spAutoFit/>
          </a:bodyPr>
          <a:lstStyle/>
          <a:p>
            <a:r>
              <a:rPr lang="en" sz="2000" b="1" dirty="0"/>
              <a:t>Ingest .shp files into R/python and join with relevant tabular data</a:t>
            </a:r>
            <a:endParaRPr lang="en-US" sz="2000" b="1" dirty="0"/>
          </a:p>
        </p:txBody>
      </p:sp>
      <p:cxnSp>
        <p:nvCxnSpPr>
          <p:cNvPr id="23" name="Straight Arrow Connector 22">
            <a:extLst>
              <a:ext uri="{FF2B5EF4-FFF2-40B4-BE49-F238E27FC236}">
                <a16:creationId xmlns:a16="http://schemas.microsoft.com/office/drawing/2014/main" id="{B6C84386-AB4A-1446-282B-7A0EEFAFB84D}"/>
              </a:ext>
            </a:extLst>
          </p:cNvPr>
          <p:cNvCxnSpPr>
            <a:cxnSpLocks/>
          </p:cNvCxnSpPr>
          <p:nvPr/>
        </p:nvCxnSpPr>
        <p:spPr>
          <a:xfrm>
            <a:off x="8993702" y="3886607"/>
            <a:ext cx="0" cy="7633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6" name="Picture 25">
            <a:extLst>
              <a:ext uri="{FF2B5EF4-FFF2-40B4-BE49-F238E27FC236}">
                <a16:creationId xmlns:a16="http://schemas.microsoft.com/office/drawing/2014/main" id="{D770D217-15A4-979B-4820-81F82497B1F9}"/>
              </a:ext>
            </a:extLst>
          </p:cNvPr>
          <p:cNvPicPr>
            <a:picLocks noChangeAspect="1"/>
          </p:cNvPicPr>
          <p:nvPr/>
        </p:nvPicPr>
        <p:blipFill>
          <a:blip r:embed="rId5"/>
          <a:stretch>
            <a:fillRect/>
          </a:stretch>
        </p:blipFill>
        <p:spPr>
          <a:xfrm>
            <a:off x="7241218" y="5432267"/>
            <a:ext cx="4608145" cy="440057"/>
          </a:xfrm>
          <a:prstGeom prst="rect">
            <a:avLst/>
          </a:prstGeom>
        </p:spPr>
      </p:pic>
    </p:spTree>
    <p:extLst>
      <p:ext uri="{BB962C8B-B14F-4D97-AF65-F5344CB8AC3E}">
        <p14:creationId xmlns:p14="http://schemas.microsoft.com/office/powerpoint/2010/main" val="33274427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4061D-D3CC-6E59-B55A-800A9D4A549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DE906C1-5630-15BC-497D-B20D0EF6F8F5}"/>
              </a:ext>
            </a:extLst>
          </p:cNvPr>
          <p:cNvSpPr>
            <a:spLocks noGrp="1"/>
          </p:cNvSpPr>
          <p:nvPr>
            <p:ph type="sldNum" sz="quarter" idx="12"/>
          </p:nvPr>
        </p:nvSpPr>
        <p:spPr/>
        <p:txBody>
          <a:bodyPr/>
          <a:lstStyle/>
          <a:p>
            <a:fld id="{B9496208-0396-4DEE-9187-2167066D100E}" type="slidenum">
              <a:rPr lang="en-US" smtClean="0"/>
              <a:t>9</a:t>
            </a:fld>
            <a:endParaRPr lang="en-US"/>
          </a:p>
        </p:txBody>
      </p:sp>
      <p:sp>
        <p:nvSpPr>
          <p:cNvPr id="5" name="TextBox 4">
            <a:extLst>
              <a:ext uri="{FF2B5EF4-FFF2-40B4-BE49-F238E27FC236}">
                <a16:creationId xmlns:a16="http://schemas.microsoft.com/office/drawing/2014/main" id="{E7BF0E47-8677-DACB-632E-DA7FEA52AA0F}"/>
              </a:ext>
            </a:extLst>
          </p:cNvPr>
          <p:cNvSpPr txBox="1"/>
          <p:nvPr/>
        </p:nvSpPr>
        <p:spPr>
          <a:xfrm>
            <a:off x="478499" y="589583"/>
            <a:ext cx="11068042" cy="523220"/>
          </a:xfrm>
          <a:prstGeom prst="rect">
            <a:avLst/>
          </a:prstGeom>
          <a:noFill/>
        </p:spPr>
        <p:txBody>
          <a:bodyPr wrap="square" rtlCol="0">
            <a:spAutoFit/>
          </a:bodyPr>
          <a:lstStyle/>
          <a:p>
            <a:r>
              <a:rPr lang="en-US" sz="2800" b="1" dirty="0"/>
              <a:t>Reflections on previous approach</a:t>
            </a:r>
            <a:endParaRPr lang="en-US" sz="2800" i="1" dirty="0"/>
          </a:p>
        </p:txBody>
      </p:sp>
      <p:pic>
        <p:nvPicPr>
          <p:cNvPr id="8" name="Picture 7">
            <a:extLst>
              <a:ext uri="{FF2B5EF4-FFF2-40B4-BE49-F238E27FC236}">
                <a16:creationId xmlns:a16="http://schemas.microsoft.com/office/drawing/2014/main" id="{95E0A6F1-0BF6-2624-712E-2C207324B424}"/>
              </a:ext>
            </a:extLst>
          </p:cNvPr>
          <p:cNvPicPr>
            <a:picLocks noChangeAspect="1"/>
          </p:cNvPicPr>
          <p:nvPr/>
        </p:nvPicPr>
        <p:blipFill>
          <a:blip r:embed="rId2"/>
          <a:stretch>
            <a:fillRect/>
          </a:stretch>
        </p:blipFill>
        <p:spPr>
          <a:xfrm>
            <a:off x="176576" y="6100895"/>
            <a:ext cx="1171809" cy="686922"/>
          </a:xfrm>
          <a:prstGeom prst="rect">
            <a:avLst/>
          </a:prstGeom>
        </p:spPr>
      </p:pic>
      <p:sp>
        <p:nvSpPr>
          <p:cNvPr id="2" name="TextBox 1">
            <a:extLst>
              <a:ext uri="{FF2B5EF4-FFF2-40B4-BE49-F238E27FC236}">
                <a16:creationId xmlns:a16="http://schemas.microsoft.com/office/drawing/2014/main" id="{FDBA5711-46BD-DB9E-B499-B8C433C47F72}"/>
              </a:ext>
            </a:extLst>
          </p:cNvPr>
          <p:cNvSpPr txBox="1"/>
          <p:nvPr/>
        </p:nvSpPr>
        <p:spPr>
          <a:xfrm>
            <a:off x="645459" y="1425388"/>
            <a:ext cx="10421470" cy="4401205"/>
          </a:xfrm>
          <a:prstGeom prst="rect">
            <a:avLst/>
          </a:prstGeom>
          <a:noFill/>
        </p:spPr>
        <p:txBody>
          <a:bodyPr wrap="square" rtlCol="0">
            <a:spAutoFit/>
          </a:bodyPr>
          <a:lstStyle/>
          <a:p>
            <a:pPr marL="285750" indent="-285750">
              <a:buFont typeface="Arial" panose="020B0604020202020204" pitchFamily="34" charset="0"/>
              <a:buChar char="•"/>
            </a:pPr>
            <a:r>
              <a:rPr lang="en-US" sz="2000" b="1" dirty="0"/>
              <a:t>TLDR: It worked well for our needs. </a:t>
            </a:r>
            <a:r>
              <a:rPr lang="en-US" sz="2000" dirty="0"/>
              <a:t>When you completed this process, it accomplished our goal of getting the most up to date geometries for the type of geography you wanted (e.g. tax lot centroids).</a:t>
            </a:r>
          </a:p>
          <a:p>
            <a:pPr marL="285750" indent="-285750">
              <a:buFont typeface="Arial" panose="020B0604020202020204" pitchFamily="34" charset="0"/>
              <a:buChar char="•"/>
            </a:pPr>
            <a:endParaRPr lang="en-US" sz="2000" dirty="0"/>
          </a:p>
          <a:p>
            <a:r>
              <a:rPr lang="en-US" sz="2000" dirty="0"/>
              <a:t>But, after doing the process a few times, it was clear there could be a better solution:</a:t>
            </a:r>
          </a:p>
          <a:p>
            <a:pPr marL="285750" indent="-285750">
              <a:buFont typeface="Arial" panose="020B0604020202020204" pitchFamily="34" charset="0"/>
              <a:buChar char="•"/>
            </a:pPr>
            <a:r>
              <a:rPr lang="en-US" sz="2000" b="1" dirty="0"/>
              <a:t>It duplicated work</a:t>
            </a:r>
            <a:r>
              <a:rPr lang="en-US" sz="2000" dirty="0"/>
              <a:t> </a:t>
            </a:r>
            <a:r>
              <a:rPr lang="en-US" sz="2000" b="1" dirty="0"/>
              <a:t>across team members: </a:t>
            </a:r>
            <a:r>
              <a:rPr lang="en-US" sz="2000" dirty="0"/>
              <a:t>we didn’t have a centralized place to look for these most up to date files for each level of geography, so we would typically just re-do the process</a:t>
            </a:r>
            <a:endParaRPr lang="en-US" sz="2000" b="1" dirty="0"/>
          </a:p>
          <a:p>
            <a:pPr marL="285750" indent="-285750">
              <a:buFont typeface="Arial" panose="020B0604020202020204" pitchFamily="34" charset="0"/>
              <a:buChar char="•"/>
            </a:pPr>
            <a:r>
              <a:rPr lang="en-US" sz="2000" b="1" dirty="0"/>
              <a:t>It was easy to forget a step </a:t>
            </a:r>
            <a:r>
              <a:rPr lang="en-US" sz="2000" dirty="0"/>
              <a:t>(e.g. dissolving, merging condo BBLs, applying a CRS transformation): the input feature layer from ArcGIS had multi-polygons for some lots so you need to dissolve these polygons into one shape which I regularly forgot to do and would realize when I got duplicates downstream.</a:t>
            </a:r>
          </a:p>
          <a:p>
            <a:pPr marL="285750" indent="-285750">
              <a:buFont typeface="Arial" panose="020B0604020202020204" pitchFamily="34" charset="0"/>
              <a:buChar char="•"/>
            </a:pPr>
            <a:r>
              <a:rPr lang="en-US" sz="2000" b="1" dirty="0"/>
              <a:t>It used a few different programs when it could be a bit more simplified: </a:t>
            </a:r>
            <a:r>
              <a:rPr lang="en-US" sz="2000" dirty="0"/>
              <a:t>If we could do it in one workflow without jumping between programs (ArcGIS, R)</a:t>
            </a:r>
          </a:p>
        </p:txBody>
      </p:sp>
    </p:spTree>
    <p:extLst>
      <p:ext uri="{BB962C8B-B14F-4D97-AF65-F5344CB8AC3E}">
        <p14:creationId xmlns:p14="http://schemas.microsoft.com/office/powerpoint/2010/main" val="4212705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2124B-5C97-F518-DC3F-4C734FCDCCD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B3A76C3-7C9E-4F75-6F20-14C7BD591983}"/>
              </a:ext>
            </a:extLst>
          </p:cNvPr>
          <p:cNvSpPr>
            <a:spLocks noGrp="1"/>
          </p:cNvSpPr>
          <p:nvPr>
            <p:ph type="sldNum" sz="quarter" idx="12"/>
          </p:nvPr>
        </p:nvSpPr>
        <p:spPr/>
        <p:txBody>
          <a:bodyPr/>
          <a:lstStyle/>
          <a:p>
            <a:fld id="{B9496208-0396-4DEE-9187-2167066D100E}" type="slidenum">
              <a:rPr lang="en-US" smtClean="0"/>
              <a:t>10</a:t>
            </a:fld>
            <a:endParaRPr lang="en-US"/>
          </a:p>
        </p:txBody>
      </p:sp>
      <p:sp>
        <p:nvSpPr>
          <p:cNvPr id="5" name="TextBox 4">
            <a:extLst>
              <a:ext uri="{FF2B5EF4-FFF2-40B4-BE49-F238E27FC236}">
                <a16:creationId xmlns:a16="http://schemas.microsoft.com/office/drawing/2014/main" id="{29C5902C-C25C-2C9F-2DA5-D080096AE690}"/>
              </a:ext>
            </a:extLst>
          </p:cNvPr>
          <p:cNvSpPr txBox="1"/>
          <p:nvPr/>
        </p:nvSpPr>
        <p:spPr>
          <a:xfrm>
            <a:off x="478499" y="589583"/>
            <a:ext cx="11068042" cy="523220"/>
          </a:xfrm>
          <a:prstGeom prst="rect">
            <a:avLst/>
          </a:prstGeom>
          <a:noFill/>
        </p:spPr>
        <p:txBody>
          <a:bodyPr wrap="square" rtlCol="0">
            <a:spAutoFit/>
          </a:bodyPr>
          <a:lstStyle/>
          <a:p>
            <a:r>
              <a:rPr lang="en-US" sz="2800" b="1" dirty="0"/>
              <a:t>What could we do to improve this process?</a:t>
            </a:r>
          </a:p>
        </p:txBody>
      </p:sp>
      <p:pic>
        <p:nvPicPr>
          <p:cNvPr id="8" name="Picture 7">
            <a:extLst>
              <a:ext uri="{FF2B5EF4-FFF2-40B4-BE49-F238E27FC236}">
                <a16:creationId xmlns:a16="http://schemas.microsoft.com/office/drawing/2014/main" id="{DEE0D85E-0F28-7A2E-E93D-4BEF8BACF447}"/>
              </a:ext>
            </a:extLst>
          </p:cNvPr>
          <p:cNvPicPr>
            <a:picLocks noChangeAspect="1"/>
          </p:cNvPicPr>
          <p:nvPr/>
        </p:nvPicPr>
        <p:blipFill>
          <a:blip r:embed="rId2"/>
          <a:stretch>
            <a:fillRect/>
          </a:stretch>
        </p:blipFill>
        <p:spPr>
          <a:xfrm>
            <a:off x="176576" y="6100895"/>
            <a:ext cx="1171809" cy="686922"/>
          </a:xfrm>
          <a:prstGeom prst="rect">
            <a:avLst/>
          </a:prstGeom>
        </p:spPr>
      </p:pic>
      <p:sp>
        <p:nvSpPr>
          <p:cNvPr id="2" name="TextBox 1">
            <a:extLst>
              <a:ext uri="{FF2B5EF4-FFF2-40B4-BE49-F238E27FC236}">
                <a16:creationId xmlns:a16="http://schemas.microsoft.com/office/drawing/2014/main" id="{8C687B74-2AEE-A1A6-3779-D391B141F5CA}"/>
              </a:ext>
            </a:extLst>
          </p:cNvPr>
          <p:cNvSpPr txBox="1"/>
          <p:nvPr/>
        </p:nvSpPr>
        <p:spPr>
          <a:xfrm>
            <a:off x="588703" y="1339592"/>
            <a:ext cx="10421470" cy="1938992"/>
          </a:xfrm>
          <a:prstGeom prst="rect">
            <a:avLst/>
          </a:prstGeom>
          <a:noFill/>
        </p:spPr>
        <p:txBody>
          <a:bodyPr wrap="square" rtlCol="0">
            <a:spAutoFit/>
          </a:bodyPr>
          <a:lstStyle/>
          <a:p>
            <a:r>
              <a:rPr lang="en-US" sz="2000" b="1" dirty="0"/>
              <a:t>Level 1: Streamlined workflow</a:t>
            </a:r>
          </a:p>
          <a:p>
            <a:pPr marL="285750" indent="-285750">
              <a:buFont typeface="Arial" panose="020B0604020202020204" pitchFamily="34" charset="0"/>
              <a:buChar char="•"/>
            </a:pPr>
            <a:r>
              <a:rPr lang="en-US" sz="2000" dirty="0"/>
              <a:t>The </a:t>
            </a:r>
            <a:r>
              <a:rPr lang="en-US" sz="2000" b="1" dirty="0"/>
              <a:t>inputs are consistent </a:t>
            </a:r>
            <a:r>
              <a:rPr lang="en-US" sz="2000" dirty="0"/>
              <a:t>(</a:t>
            </a:r>
            <a:r>
              <a:rPr lang="en-US" sz="2000" i="1" dirty="0"/>
              <a:t>regularly updated ArcGIS layers</a:t>
            </a:r>
            <a:r>
              <a:rPr lang="en-US" sz="2000" dirty="0"/>
              <a:t>) – time is the only variable</a:t>
            </a:r>
          </a:p>
          <a:p>
            <a:pPr marL="285750" indent="-285750">
              <a:buFont typeface="Arial" panose="020B0604020202020204" pitchFamily="34" charset="0"/>
              <a:buChar char="•"/>
            </a:pPr>
            <a:r>
              <a:rPr lang="en-US" sz="2000" dirty="0"/>
              <a:t>Python could accomplish all of these steps sequentially, so we could more or less write one script (one .</a:t>
            </a:r>
            <a:r>
              <a:rPr lang="en-US" sz="2000" dirty="0" err="1"/>
              <a:t>py</a:t>
            </a:r>
            <a:r>
              <a:rPr lang="en-US" sz="2000" dirty="0"/>
              <a:t> file) to do the entire task start to finish</a:t>
            </a:r>
          </a:p>
          <a:p>
            <a:pPr marL="742950" lvl="1" indent="-285750">
              <a:buFont typeface="Arial" panose="020B0604020202020204" pitchFamily="34" charset="0"/>
              <a:buChar char="•"/>
            </a:pPr>
            <a:r>
              <a:rPr lang="en-US" sz="2000" dirty="0"/>
              <a:t>Modern tools (python) can easily communicate with map services (ArcGIS) to subvert manual extraction via the `</a:t>
            </a:r>
            <a:r>
              <a:rPr lang="en-US" sz="2000" dirty="0" err="1"/>
              <a:t>arcgis</a:t>
            </a:r>
            <a:r>
              <a:rPr lang="en-US" sz="2000" dirty="0"/>
              <a:t>` library</a:t>
            </a:r>
          </a:p>
        </p:txBody>
      </p:sp>
    </p:spTree>
    <p:extLst>
      <p:ext uri="{BB962C8B-B14F-4D97-AF65-F5344CB8AC3E}">
        <p14:creationId xmlns:p14="http://schemas.microsoft.com/office/powerpoint/2010/main" val="3123814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BCDA9-D95C-3618-04B7-CB92C34D9D1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5174991-8B86-0D73-838A-53A40972D7DC}"/>
              </a:ext>
            </a:extLst>
          </p:cNvPr>
          <p:cNvSpPr>
            <a:spLocks noGrp="1"/>
          </p:cNvSpPr>
          <p:nvPr>
            <p:ph type="sldNum" sz="quarter" idx="12"/>
          </p:nvPr>
        </p:nvSpPr>
        <p:spPr/>
        <p:txBody>
          <a:bodyPr/>
          <a:lstStyle/>
          <a:p>
            <a:fld id="{B9496208-0396-4DEE-9187-2167066D100E}" type="slidenum">
              <a:rPr lang="en-US" smtClean="0"/>
              <a:t>11</a:t>
            </a:fld>
            <a:endParaRPr lang="en-US"/>
          </a:p>
        </p:txBody>
      </p:sp>
      <p:sp>
        <p:nvSpPr>
          <p:cNvPr id="5" name="TextBox 4">
            <a:extLst>
              <a:ext uri="{FF2B5EF4-FFF2-40B4-BE49-F238E27FC236}">
                <a16:creationId xmlns:a16="http://schemas.microsoft.com/office/drawing/2014/main" id="{85C5074D-13C4-4C44-6EE9-90B7AC42F60F}"/>
              </a:ext>
            </a:extLst>
          </p:cNvPr>
          <p:cNvSpPr txBox="1"/>
          <p:nvPr/>
        </p:nvSpPr>
        <p:spPr>
          <a:xfrm>
            <a:off x="478499" y="589583"/>
            <a:ext cx="11068042" cy="523220"/>
          </a:xfrm>
          <a:prstGeom prst="rect">
            <a:avLst/>
          </a:prstGeom>
          <a:noFill/>
        </p:spPr>
        <p:txBody>
          <a:bodyPr wrap="square" rtlCol="0">
            <a:spAutoFit/>
          </a:bodyPr>
          <a:lstStyle/>
          <a:p>
            <a:r>
              <a:rPr lang="en-US" sz="2800" b="1" dirty="0"/>
              <a:t>Revamped approach: </a:t>
            </a:r>
            <a:r>
              <a:rPr lang="en-US" sz="2800" i="1" dirty="0"/>
              <a:t>query.py</a:t>
            </a:r>
          </a:p>
        </p:txBody>
      </p:sp>
      <p:pic>
        <p:nvPicPr>
          <p:cNvPr id="8" name="Picture 7">
            <a:extLst>
              <a:ext uri="{FF2B5EF4-FFF2-40B4-BE49-F238E27FC236}">
                <a16:creationId xmlns:a16="http://schemas.microsoft.com/office/drawing/2014/main" id="{305A2026-A6CE-02AC-65D0-914630AEE307}"/>
              </a:ext>
            </a:extLst>
          </p:cNvPr>
          <p:cNvPicPr>
            <a:picLocks noChangeAspect="1"/>
          </p:cNvPicPr>
          <p:nvPr/>
        </p:nvPicPr>
        <p:blipFill>
          <a:blip r:embed="rId2"/>
          <a:stretch>
            <a:fillRect/>
          </a:stretch>
        </p:blipFill>
        <p:spPr>
          <a:xfrm>
            <a:off x="176576" y="6100895"/>
            <a:ext cx="1171809" cy="686922"/>
          </a:xfrm>
          <a:prstGeom prst="rect">
            <a:avLst/>
          </a:prstGeom>
        </p:spPr>
      </p:pic>
      <p:sp>
        <p:nvSpPr>
          <p:cNvPr id="2" name="TextBox 1">
            <a:extLst>
              <a:ext uri="{FF2B5EF4-FFF2-40B4-BE49-F238E27FC236}">
                <a16:creationId xmlns:a16="http://schemas.microsoft.com/office/drawing/2014/main" id="{BC6073C3-142D-8FAA-C43F-3F7CDCA57640}"/>
              </a:ext>
            </a:extLst>
          </p:cNvPr>
          <p:cNvSpPr txBox="1"/>
          <p:nvPr/>
        </p:nvSpPr>
        <p:spPr>
          <a:xfrm>
            <a:off x="645458" y="1425388"/>
            <a:ext cx="5450541" cy="5016758"/>
          </a:xfrm>
          <a:prstGeom prst="rect">
            <a:avLst/>
          </a:prstGeom>
          <a:noFill/>
        </p:spPr>
        <p:txBody>
          <a:bodyPr wrap="square" rtlCol="0">
            <a:spAutoFit/>
          </a:bodyPr>
          <a:lstStyle/>
          <a:p>
            <a:r>
              <a:rPr lang="en-US" sz="2000" b="1" i="1" dirty="0"/>
              <a:t>Inputs: </a:t>
            </a:r>
            <a:r>
              <a:rPr lang="en-US" sz="2000" dirty="0"/>
              <a:t>geographic level (borough, block, lot) and shape type (polygon or centroid)</a:t>
            </a:r>
          </a:p>
          <a:p>
            <a:endParaRPr lang="en-US" sz="2000" dirty="0"/>
          </a:p>
          <a:p>
            <a:r>
              <a:rPr lang="en-US" sz="2000" b="1" i="1" dirty="0"/>
              <a:t>Process:</a:t>
            </a:r>
          </a:p>
          <a:p>
            <a:pPr marL="342900" indent="-342900">
              <a:buFont typeface="Arial" panose="020B0604020202020204" pitchFamily="34" charset="0"/>
              <a:buChar char="•"/>
            </a:pPr>
            <a:r>
              <a:rPr lang="en-US" sz="2000" dirty="0"/>
              <a:t>Using </a:t>
            </a:r>
            <a:r>
              <a:rPr lang="en-US" sz="2000" dirty="0" err="1"/>
              <a:t>arcgis</a:t>
            </a:r>
            <a:r>
              <a:rPr lang="en-US" sz="2000" dirty="0"/>
              <a:t> python library, retrieve most recent feature layer and its metadata</a:t>
            </a:r>
          </a:p>
          <a:p>
            <a:pPr marL="342900" indent="-342900">
              <a:buFont typeface="Arial" panose="020B0604020202020204" pitchFamily="34" charset="0"/>
              <a:buChar char="•"/>
            </a:pPr>
            <a:r>
              <a:rPr lang="en-US" sz="2000" dirty="0"/>
              <a:t>Extract geometries from the features</a:t>
            </a:r>
          </a:p>
          <a:p>
            <a:pPr marL="800100" lvl="1" indent="-342900">
              <a:buFont typeface="Arial" panose="020B0604020202020204" pitchFamily="34" charset="0"/>
              <a:buChar char="•"/>
            </a:pPr>
            <a:r>
              <a:rPr lang="en-US" sz="2000" dirty="0"/>
              <a:t>If needed, convert to centroids</a:t>
            </a:r>
          </a:p>
          <a:p>
            <a:pPr marL="342900" indent="-342900">
              <a:buFont typeface="Arial" panose="020B0604020202020204" pitchFamily="34" charset="0"/>
              <a:buChar char="•"/>
            </a:pPr>
            <a:r>
              <a:rPr lang="en-US" sz="2000" dirty="0"/>
              <a:t>Standardize CRS to 4326 and retain geometrically valid entries</a:t>
            </a:r>
          </a:p>
          <a:p>
            <a:pPr marL="342900" indent="-342900">
              <a:buFont typeface="Arial" panose="020B0604020202020204" pitchFamily="34" charset="0"/>
              <a:buChar char="•"/>
            </a:pPr>
            <a:r>
              <a:rPr lang="en-US" sz="2000" dirty="0"/>
              <a:t>Preserve geometry IDs and object columns </a:t>
            </a:r>
          </a:p>
          <a:p>
            <a:pPr marL="342900" indent="-342900">
              <a:buFont typeface="Arial" panose="020B0604020202020204" pitchFamily="34" charset="0"/>
              <a:buChar char="•"/>
            </a:pPr>
            <a:r>
              <a:rPr lang="en-US" sz="2000" dirty="0"/>
              <a:t>If “lot” is selected, merge BBLs to Condo BBLs for easier joining with parcel data</a:t>
            </a:r>
          </a:p>
          <a:p>
            <a:endParaRPr lang="en-US" sz="2000" dirty="0"/>
          </a:p>
          <a:p>
            <a:r>
              <a:rPr lang="en-US" sz="2000" b="1" i="1" dirty="0"/>
              <a:t>Outputs: </a:t>
            </a:r>
            <a:r>
              <a:rPr lang="en-US" sz="2000" dirty="0"/>
              <a:t>static parquet file</a:t>
            </a:r>
          </a:p>
          <a:p>
            <a:pPr marL="342900" indent="-342900">
              <a:buFont typeface="Arial" panose="020B0604020202020204" pitchFamily="34" charset="0"/>
              <a:buChar char="•"/>
            </a:pPr>
            <a:endParaRPr lang="en-US" sz="2000" dirty="0"/>
          </a:p>
        </p:txBody>
      </p:sp>
      <p:pic>
        <p:nvPicPr>
          <p:cNvPr id="1028" name="Picture 4">
            <a:extLst>
              <a:ext uri="{FF2B5EF4-FFF2-40B4-BE49-F238E27FC236}">
                <a16:creationId xmlns:a16="http://schemas.microsoft.com/office/drawing/2014/main" id="{FE2B7D27-CD8E-E526-A3EB-E43D181BCD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9400" y="772668"/>
            <a:ext cx="5129426" cy="53126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9290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2B325-190B-582F-D844-AEB5C908E14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A511FF0-62E0-C42D-3D38-FD8A6096FA5D}"/>
              </a:ext>
            </a:extLst>
          </p:cNvPr>
          <p:cNvSpPr>
            <a:spLocks noGrp="1"/>
          </p:cNvSpPr>
          <p:nvPr>
            <p:ph type="sldNum" sz="quarter" idx="12"/>
          </p:nvPr>
        </p:nvSpPr>
        <p:spPr/>
        <p:txBody>
          <a:bodyPr/>
          <a:lstStyle/>
          <a:p>
            <a:fld id="{B9496208-0396-4DEE-9187-2167066D100E}" type="slidenum">
              <a:rPr lang="en-US" smtClean="0"/>
              <a:t>12</a:t>
            </a:fld>
            <a:endParaRPr lang="en-US"/>
          </a:p>
        </p:txBody>
      </p:sp>
      <p:pic>
        <p:nvPicPr>
          <p:cNvPr id="8" name="Picture 7">
            <a:extLst>
              <a:ext uri="{FF2B5EF4-FFF2-40B4-BE49-F238E27FC236}">
                <a16:creationId xmlns:a16="http://schemas.microsoft.com/office/drawing/2014/main" id="{EA34969C-86C8-51A3-C520-02509BEE4E71}"/>
              </a:ext>
            </a:extLst>
          </p:cNvPr>
          <p:cNvPicPr>
            <a:picLocks noChangeAspect="1"/>
          </p:cNvPicPr>
          <p:nvPr/>
        </p:nvPicPr>
        <p:blipFill>
          <a:blip r:embed="rId2"/>
          <a:stretch>
            <a:fillRect/>
          </a:stretch>
        </p:blipFill>
        <p:spPr>
          <a:xfrm>
            <a:off x="176576" y="6100895"/>
            <a:ext cx="1171809" cy="686922"/>
          </a:xfrm>
          <a:prstGeom prst="rect">
            <a:avLst/>
          </a:prstGeom>
        </p:spPr>
      </p:pic>
      <p:sp>
        <p:nvSpPr>
          <p:cNvPr id="3" name="TextBox 2">
            <a:extLst>
              <a:ext uri="{FF2B5EF4-FFF2-40B4-BE49-F238E27FC236}">
                <a16:creationId xmlns:a16="http://schemas.microsoft.com/office/drawing/2014/main" id="{E4E7F36A-AE72-234F-B78A-6EF4BA9785F6}"/>
              </a:ext>
            </a:extLst>
          </p:cNvPr>
          <p:cNvSpPr txBox="1"/>
          <p:nvPr/>
        </p:nvSpPr>
        <p:spPr>
          <a:xfrm>
            <a:off x="478499" y="589583"/>
            <a:ext cx="11068042" cy="523220"/>
          </a:xfrm>
          <a:prstGeom prst="rect">
            <a:avLst/>
          </a:prstGeom>
          <a:noFill/>
        </p:spPr>
        <p:txBody>
          <a:bodyPr wrap="square" rtlCol="0">
            <a:spAutoFit/>
          </a:bodyPr>
          <a:lstStyle/>
          <a:p>
            <a:r>
              <a:rPr lang="en-US" sz="2800" b="1" dirty="0"/>
              <a:t>Local deployment</a:t>
            </a:r>
          </a:p>
        </p:txBody>
      </p:sp>
      <p:pic>
        <p:nvPicPr>
          <p:cNvPr id="9" name="Picture 8">
            <a:extLst>
              <a:ext uri="{FF2B5EF4-FFF2-40B4-BE49-F238E27FC236}">
                <a16:creationId xmlns:a16="http://schemas.microsoft.com/office/drawing/2014/main" id="{9CA45B07-CC07-05F8-4FED-94A06536C751}"/>
              </a:ext>
            </a:extLst>
          </p:cNvPr>
          <p:cNvPicPr>
            <a:picLocks noChangeAspect="1"/>
          </p:cNvPicPr>
          <p:nvPr/>
        </p:nvPicPr>
        <p:blipFill>
          <a:blip r:embed="rId3"/>
          <a:srcRect t="31510"/>
          <a:stretch>
            <a:fillRect/>
          </a:stretch>
        </p:blipFill>
        <p:spPr>
          <a:xfrm>
            <a:off x="478499" y="1112803"/>
            <a:ext cx="9968906" cy="4175487"/>
          </a:xfrm>
          <a:prstGeom prst="rect">
            <a:avLst/>
          </a:prstGeom>
        </p:spPr>
      </p:pic>
    </p:spTree>
    <p:extLst>
      <p:ext uri="{BB962C8B-B14F-4D97-AF65-F5344CB8AC3E}">
        <p14:creationId xmlns:p14="http://schemas.microsoft.com/office/powerpoint/2010/main" val="17308673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F6304-782D-BE17-6FC8-68281B130C8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25625B-E088-0D9D-353B-F8737909325F}"/>
              </a:ext>
            </a:extLst>
          </p:cNvPr>
          <p:cNvSpPr>
            <a:spLocks noGrp="1"/>
          </p:cNvSpPr>
          <p:nvPr>
            <p:ph type="sldNum" sz="quarter" idx="12"/>
          </p:nvPr>
        </p:nvSpPr>
        <p:spPr/>
        <p:txBody>
          <a:bodyPr/>
          <a:lstStyle/>
          <a:p>
            <a:fld id="{B9496208-0396-4DEE-9187-2167066D100E}" type="slidenum">
              <a:rPr lang="en-US" smtClean="0"/>
              <a:t>13</a:t>
            </a:fld>
            <a:endParaRPr lang="en-US"/>
          </a:p>
        </p:txBody>
      </p:sp>
      <p:pic>
        <p:nvPicPr>
          <p:cNvPr id="8" name="Picture 7">
            <a:extLst>
              <a:ext uri="{FF2B5EF4-FFF2-40B4-BE49-F238E27FC236}">
                <a16:creationId xmlns:a16="http://schemas.microsoft.com/office/drawing/2014/main" id="{C64A0EEE-5A7D-24BB-64A5-08A08558F07D}"/>
              </a:ext>
            </a:extLst>
          </p:cNvPr>
          <p:cNvPicPr>
            <a:picLocks noChangeAspect="1"/>
          </p:cNvPicPr>
          <p:nvPr/>
        </p:nvPicPr>
        <p:blipFill>
          <a:blip r:embed="rId2"/>
          <a:stretch>
            <a:fillRect/>
          </a:stretch>
        </p:blipFill>
        <p:spPr>
          <a:xfrm>
            <a:off x="176576" y="6100895"/>
            <a:ext cx="1171809" cy="686922"/>
          </a:xfrm>
          <a:prstGeom prst="rect">
            <a:avLst/>
          </a:prstGeom>
        </p:spPr>
      </p:pic>
      <p:sp>
        <p:nvSpPr>
          <p:cNvPr id="3" name="TextBox 2">
            <a:extLst>
              <a:ext uri="{FF2B5EF4-FFF2-40B4-BE49-F238E27FC236}">
                <a16:creationId xmlns:a16="http://schemas.microsoft.com/office/drawing/2014/main" id="{0AFE09CE-3DF6-55C8-CB2C-B7341C189162}"/>
              </a:ext>
            </a:extLst>
          </p:cNvPr>
          <p:cNvSpPr txBox="1"/>
          <p:nvPr/>
        </p:nvSpPr>
        <p:spPr>
          <a:xfrm>
            <a:off x="478499" y="589583"/>
            <a:ext cx="11068042" cy="523220"/>
          </a:xfrm>
          <a:prstGeom prst="rect">
            <a:avLst/>
          </a:prstGeom>
          <a:noFill/>
        </p:spPr>
        <p:txBody>
          <a:bodyPr wrap="square" rtlCol="0">
            <a:spAutoFit/>
          </a:bodyPr>
          <a:lstStyle/>
          <a:p>
            <a:r>
              <a:rPr lang="en-US" sz="2800" b="1" dirty="0"/>
              <a:t>Local deployment</a:t>
            </a:r>
          </a:p>
        </p:txBody>
      </p:sp>
      <p:pic>
        <p:nvPicPr>
          <p:cNvPr id="2050" name="Picture 2">
            <a:extLst>
              <a:ext uri="{FF2B5EF4-FFF2-40B4-BE49-F238E27FC236}">
                <a16:creationId xmlns:a16="http://schemas.microsoft.com/office/drawing/2014/main" id="{7BD869B8-F5CD-42D3-F783-8F95752FF8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651" y="1788660"/>
            <a:ext cx="6436143" cy="328068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038B880D-47C9-42F3-5538-DED5278ACD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21955" y="1990725"/>
            <a:ext cx="2914650" cy="28765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A4318DF-58C8-9E8A-3BC6-670D90718965}"/>
              </a:ext>
            </a:extLst>
          </p:cNvPr>
          <p:cNvSpPr txBox="1"/>
          <p:nvPr/>
        </p:nvSpPr>
        <p:spPr>
          <a:xfrm>
            <a:off x="478499" y="1367098"/>
            <a:ext cx="6094476" cy="369332"/>
          </a:xfrm>
          <a:prstGeom prst="rect">
            <a:avLst/>
          </a:prstGeom>
          <a:noFill/>
        </p:spPr>
        <p:txBody>
          <a:bodyPr wrap="square">
            <a:spAutoFit/>
          </a:bodyPr>
          <a:lstStyle/>
          <a:p>
            <a:r>
              <a:rPr lang="en-US" sz="1800" b="1" i="1" dirty="0"/>
              <a:t>With one </a:t>
            </a:r>
            <a:r>
              <a:rPr lang="en-US" b="1" i="1" dirty="0"/>
              <a:t>line of code on my command line…</a:t>
            </a:r>
            <a:endParaRPr lang="en-US" sz="1800" dirty="0"/>
          </a:p>
        </p:txBody>
      </p:sp>
      <p:sp>
        <p:nvSpPr>
          <p:cNvPr id="6" name="TextBox 5">
            <a:extLst>
              <a:ext uri="{FF2B5EF4-FFF2-40B4-BE49-F238E27FC236}">
                <a16:creationId xmlns:a16="http://schemas.microsoft.com/office/drawing/2014/main" id="{F00FE010-60A4-EBD1-69FE-9C8E651C29F2}"/>
              </a:ext>
            </a:extLst>
          </p:cNvPr>
          <p:cNvSpPr txBox="1"/>
          <p:nvPr/>
        </p:nvSpPr>
        <p:spPr>
          <a:xfrm>
            <a:off x="6813423" y="1367098"/>
            <a:ext cx="4123182" cy="369332"/>
          </a:xfrm>
          <a:prstGeom prst="rect">
            <a:avLst/>
          </a:prstGeom>
          <a:noFill/>
        </p:spPr>
        <p:txBody>
          <a:bodyPr wrap="square">
            <a:spAutoFit/>
          </a:bodyPr>
          <a:lstStyle/>
          <a:p>
            <a:pPr algn="r"/>
            <a:r>
              <a:rPr lang="en-US" sz="1800" b="1" i="1" dirty="0"/>
              <a:t>…I get an up to date file stored locally.</a:t>
            </a:r>
            <a:endParaRPr lang="en-US" sz="1800" dirty="0"/>
          </a:p>
        </p:txBody>
      </p:sp>
    </p:spTree>
    <p:extLst>
      <p:ext uri="{BB962C8B-B14F-4D97-AF65-F5344CB8AC3E}">
        <p14:creationId xmlns:p14="http://schemas.microsoft.com/office/powerpoint/2010/main" val="22417611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4EE4F-1ABC-61E2-E37C-6817681A53E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3BC56FF-8C8B-E63C-5762-5B8B9E901B85}"/>
              </a:ext>
            </a:extLst>
          </p:cNvPr>
          <p:cNvSpPr>
            <a:spLocks noGrp="1"/>
          </p:cNvSpPr>
          <p:nvPr>
            <p:ph type="sldNum" sz="quarter" idx="12"/>
          </p:nvPr>
        </p:nvSpPr>
        <p:spPr/>
        <p:txBody>
          <a:bodyPr/>
          <a:lstStyle/>
          <a:p>
            <a:fld id="{B9496208-0396-4DEE-9187-2167066D100E}" type="slidenum">
              <a:rPr lang="en-US" smtClean="0"/>
              <a:t>14</a:t>
            </a:fld>
            <a:endParaRPr lang="en-US"/>
          </a:p>
        </p:txBody>
      </p:sp>
      <p:sp>
        <p:nvSpPr>
          <p:cNvPr id="5" name="TextBox 4">
            <a:extLst>
              <a:ext uri="{FF2B5EF4-FFF2-40B4-BE49-F238E27FC236}">
                <a16:creationId xmlns:a16="http://schemas.microsoft.com/office/drawing/2014/main" id="{DA2E7560-7205-279F-873A-2F6BE6868872}"/>
              </a:ext>
            </a:extLst>
          </p:cNvPr>
          <p:cNvSpPr txBox="1"/>
          <p:nvPr/>
        </p:nvSpPr>
        <p:spPr>
          <a:xfrm>
            <a:off x="478499" y="589583"/>
            <a:ext cx="11068042" cy="523220"/>
          </a:xfrm>
          <a:prstGeom prst="rect">
            <a:avLst/>
          </a:prstGeom>
          <a:noFill/>
        </p:spPr>
        <p:txBody>
          <a:bodyPr wrap="square" rtlCol="0">
            <a:spAutoFit/>
          </a:bodyPr>
          <a:lstStyle/>
          <a:p>
            <a:r>
              <a:rPr lang="en-US" sz="2800" b="1" dirty="0"/>
              <a:t>What could we do to improve this process?</a:t>
            </a:r>
          </a:p>
        </p:txBody>
      </p:sp>
      <p:pic>
        <p:nvPicPr>
          <p:cNvPr id="8" name="Picture 7">
            <a:extLst>
              <a:ext uri="{FF2B5EF4-FFF2-40B4-BE49-F238E27FC236}">
                <a16:creationId xmlns:a16="http://schemas.microsoft.com/office/drawing/2014/main" id="{2282E787-6B27-5D38-D633-5F5BB3969CD5}"/>
              </a:ext>
            </a:extLst>
          </p:cNvPr>
          <p:cNvPicPr>
            <a:picLocks noChangeAspect="1"/>
          </p:cNvPicPr>
          <p:nvPr/>
        </p:nvPicPr>
        <p:blipFill>
          <a:blip r:embed="rId2"/>
          <a:stretch>
            <a:fillRect/>
          </a:stretch>
        </p:blipFill>
        <p:spPr>
          <a:xfrm>
            <a:off x="176576" y="6100895"/>
            <a:ext cx="1171809" cy="686922"/>
          </a:xfrm>
          <a:prstGeom prst="rect">
            <a:avLst/>
          </a:prstGeom>
        </p:spPr>
      </p:pic>
      <p:sp>
        <p:nvSpPr>
          <p:cNvPr id="2" name="TextBox 1">
            <a:extLst>
              <a:ext uri="{FF2B5EF4-FFF2-40B4-BE49-F238E27FC236}">
                <a16:creationId xmlns:a16="http://schemas.microsoft.com/office/drawing/2014/main" id="{29261762-8B7F-7655-D9D3-8A6D3ED4D3A8}"/>
              </a:ext>
            </a:extLst>
          </p:cNvPr>
          <p:cNvSpPr txBox="1"/>
          <p:nvPr/>
        </p:nvSpPr>
        <p:spPr>
          <a:xfrm>
            <a:off x="588703" y="1339592"/>
            <a:ext cx="10421470" cy="5016758"/>
          </a:xfrm>
          <a:prstGeom prst="rect">
            <a:avLst/>
          </a:prstGeom>
          <a:noFill/>
        </p:spPr>
        <p:txBody>
          <a:bodyPr wrap="square" rtlCol="0">
            <a:spAutoFit/>
          </a:bodyPr>
          <a:lstStyle/>
          <a:p>
            <a:r>
              <a:rPr lang="en-US" sz="2000" b="1" dirty="0">
                <a:solidFill>
                  <a:schemeClr val="bg2">
                    <a:lumMod val="90000"/>
                  </a:schemeClr>
                </a:solidFill>
              </a:rPr>
              <a:t>Level 1: Streamlined workflow</a:t>
            </a:r>
          </a:p>
          <a:p>
            <a:pPr marL="285750" indent="-285750">
              <a:buFont typeface="Arial" panose="020B0604020202020204" pitchFamily="34" charset="0"/>
              <a:buChar char="•"/>
            </a:pPr>
            <a:r>
              <a:rPr lang="en-US" sz="2000" dirty="0">
                <a:solidFill>
                  <a:schemeClr val="bg2">
                    <a:lumMod val="90000"/>
                  </a:schemeClr>
                </a:solidFill>
              </a:rPr>
              <a:t>The </a:t>
            </a:r>
            <a:r>
              <a:rPr lang="en-US" sz="2000" b="1" dirty="0">
                <a:solidFill>
                  <a:schemeClr val="bg2">
                    <a:lumMod val="90000"/>
                  </a:schemeClr>
                </a:solidFill>
              </a:rPr>
              <a:t>inputs </a:t>
            </a:r>
            <a:r>
              <a:rPr lang="en-US" sz="2000" dirty="0">
                <a:solidFill>
                  <a:schemeClr val="bg2">
                    <a:lumMod val="90000"/>
                  </a:schemeClr>
                </a:solidFill>
              </a:rPr>
              <a:t>(</a:t>
            </a:r>
            <a:r>
              <a:rPr lang="en-US" sz="2000" i="1" dirty="0">
                <a:solidFill>
                  <a:schemeClr val="bg2">
                    <a:lumMod val="90000"/>
                  </a:schemeClr>
                </a:solidFill>
              </a:rPr>
              <a:t>regularly updated ArcGIS layers</a:t>
            </a:r>
            <a:r>
              <a:rPr lang="en-US" sz="2000" dirty="0">
                <a:solidFill>
                  <a:schemeClr val="bg2">
                    <a:lumMod val="90000"/>
                  </a:schemeClr>
                </a:solidFill>
              </a:rPr>
              <a:t>) </a:t>
            </a:r>
            <a:r>
              <a:rPr lang="en-US" sz="2000" b="1" dirty="0">
                <a:solidFill>
                  <a:schemeClr val="bg2">
                    <a:lumMod val="90000"/>
                  </a:schemeClr>
                </a:solidFill>
              </a:rPr>
              <a:t>are consistent</a:t>
            </a:r>
            <a:r>
              <a:rPr lang="en-US" sz="2000" dirty="0">
                <a:solidFill>
                  <a:schemeClr val="bg2">
                    <a:lumMod val="90000"/>
                  </a:schemeClr>
                </a:solidFill>
              </a:rPr>
              <a:t>– time is the only variable</a:t>
            </a:r>
          </a:p>
          <a:p>
            <a:pPr marL="285750" indent="-285750">
              <a:buFont typeface="Arial" panose="020B0604020202020204" pitchFamily="34" charset="0"/>
              <a:buChar char="•"/>
            </a:pPr>
            <a:r>
              <a:rPr lang="en-US" sz="2000" dirty="0">
                <a:solidFill>
                  <a:schemeClr val="bg2">
                    <a:lumMod val="90000"/>
                  </a:schemeClr>
                </a:solidFill>
              </a:rPr>
              <a:t>Python could accomplish all of these steps sequentially, so we could more or less write one script (one .</a:t>
            </a:r>
            <a:r>
              <a:rPr lang="en-US" sz="2000" dirty="0" err="1">
                <a:solidFill>
                  <a:schemeClr val="bg2">
                    <a:lumMod val="90000"/>
                  </a:schemeClr>
                </a:solidFill>
              </a:rPr>
              <a:t>py</a:t>
            </a:r>
            <a:r>
              <a:rPr lang="en-US" sz="2000" dirty="0">
                <a:solidFill>
                  <a:schemeClr val="bg2">
                    <a:lumMod val="90000"/>
                  </a:schemeClr>
                </a:solidFill>
              </a:rPr>
              <a:t> file) to do the entire task start to finish</a:t>
            </a:r>
          </a:p>
          <a:p>
            <a:pPr marL="742950" lvl="1" indent="-285750">
              <a:buFont typeface="Arial" panose="020B0604020202020204" pitchFamily="34" charset="0"/>
              <a:buChar char="•"/>
            </a:pPr>
            <a:r>
              <a:rPr lang="en-US" sz="2000" dirty="0">
                <a:solidFill>
                  <a:schemeClr val="bg2">
                    <a:lumMod val="90000"/>
                  </a:schemeClr>
                </a:solidFill>
              </a:rPr>
              <a:t>Modern tools (python) can easily communicate with map services (ArcGIS) to subvert manual extraction via the `</a:t>
            </a:r>
            <a:r>
              <a:rPr lang="en-US" sz="2000" dirty="0" err="1">
                <a:solidFill>
                  <a:schemeClr val="bg2">
                    <a:lumMod val="90000"/>
                  </a:schemeClr>
                </a:solidFill>
              </a:rPr>
              <a:t>arcpy</a:t>
            </a:r>
            <a:r>
              <a:rPr lang="en-US" sz="2000" dirty="0">
                <a:solidFill>
                  <a:schemeClr val="bg2">
                    <a:lumMod val="90000"/>
                  </a:schemeClr>
                </a:solidFill>
              </a:rPr>
              <a:t>` library</a:t>
            </a:r>
            <a:endParaRPr lang="en-US" sz="2000" dirty="0"/>
          </a:p>
          <a:p>
            <a:r>
              <a:rPr lang="en-US" sz="2000" b="1" dirty="0"/>
              <a:t>Level 2: Automate it!</a:t>
            </a:r>
          </a:p>
          <a:p>
            <a:pPr marL="285750" indent="-285750">
              <a:buFont typeface="Arial" panose="020B0604020202020204" pitchFamily="34" charset="0"/>
              <a:buChar char="•"/>
            </a:pPr>
            <a:r>
              <a:rPr lang="en-US" sz="2000" dirty="0"/>
              <a:t>We could set up a way to run that python script on a schedule instead of running it manually</a:t>
            </a:r>
          </a:p>
          <a:p>
            <a:pPr marL="285750" indent="-285750">
              <a:buFont typeface="Arial" panose="020B0604020202020204" pitchFamily="34" charset="0"/>
              <a:buChar char="•"/>
            </a:pPr>
            <a:r>
              <a:rPr lang="en-US" sz="2000" dirty="0"/>
              <a:t>Save it in one place, so it’s not duplicating efforts</a:t>
            </a:r>
          </a:p>
          <a:p>
            <a:pPr marL="285750" indent="-285750">
              <a:buFont typeface="Arial" panose="020B0604020202020204" pitchFamily="34" charset="0"/>
              <a:buChar char="•"/>
            </a:pPr>
            <a:r>
              <a:rPr lang="en-US" sz="2000" dirty="0"/>
              <a:t>Periodic runs ensure that users can have the most up-to-date version in their work and keep track of what has changed</a:t>
            </a:r>
          </a:p>
          <a:p>
            <a:pPr marL="285750" indent="-285750">
              <a:buFont typeface="Arial" panose="020B0604020202020204" pitchFamily="34" charset="0"/>
              <a:buChar char="•"/>
            </a:pPr>
            <a:r>
              <a:rPr lang="en-US" sz="2000" dirty="0"/>
              <a:t>Establish a common, lightweight data format to extend across all unit’s projects that is compatible with our push towards open source (R/Python)</a:t>
            </a:r>
          </a:p>
          <a:p>
            <a:pPr marL="285750" indent="-285750">
              <a:buFont typeface="Arial" panose="020B0604020202020204" pitchFamily="34" charset="0"/>
              <a:buChar char="•"/>
            </a:pPr>
            <a:r>
              <a:rPr lang="en-US" sz="2000" dirty="0"/>
              <a:t>Introduce quality control by including tests and conditioning updates to successful runs</a:t>
            </a:r>
          </a:p>
          <a:p>
            <a:endParaRPr lang="en-US" sz="2000" dirty="0"/>
          </a:p>
        </p:txBody>
      </p:sp>
    </p:spTree>
    <p:extLst>
      <p:ext uri="{BB962C8B-B14F-4D97-AF65-F5344CB8AC3E}">
        <p14:creationId xmlns:p14="http://schemas.microsoft.com/office/powerpoint/2010/main" val="2476191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5F617-D298-89A2-1D2E-6400C9056B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92E23D-66D7-3AF2-0B88-E340E3CBCAC2}"/>
              </a:ext>
            </a:extLst>
          </p:cNvPr>
          <p:cNvSpPr>
            <a:spLocks noGrp="1"/>
          </p:cNvSpPr>
          <p:nvPr>
            <p:ph type="title"/>
          </p:nvPr>
        </p:nvSpPr>
        <p:spPr/>
        <p:txBody>
          <a:bodyPr>
            <a:normAutofit/>
          </a:bodyPr>
          <a:lstStyle/>
          <a:p>
            <a:r>
              <a:rPr lang="en-US" sz="4800" dirty="0"/>
              <a:t>How do we use                      Actions to automate this?</a:t>
            </a:r>
          </a:p>
        </p:txBody>
      </p:sp>
      <p:sp>
        <p:nvSpPr>
          <p:cNvPr id="4" name="Slide Number Placeholder 3">
            <a:extLst>
              <a:ext uri="{FF2B5EF4-FFF2-40B4-BE49-F238E27FC236}">
                <a16:creationId xmlns:a16="http://schemas.microsoft.com/office/drawing/2014/main" id="{D7F24A5E-A40A-1019-9FB2-382A6FA00119}"/>
              </a:ext>
            </a:extLst>
          </p:cNvPr>
          <p:cNvSpPr>
            <a:spLocks noGrp="1"/>
          </p:cNvSpPr>
          <p:nvPr>
            <p:ph type="sldNum" sz="quarter" idx="12"/>
          </p:nvPr>
        </p:nvSpPr>
        <p:spPr/>
        <p:txBody>
          <a:bodyPr/>
          <a:lstStyle/>
          <a:p>
            <a:fld id="{B9496208-0396-4DEE-9187-2167066D100E}" type="slidenum">
              <a:rPr lang="en-US" smtClean="0"/>
              <a:t>15</a:t>
            </a:fld>
            <a:endParaRPr lang="en-US"/>
          </a:p>
        </p:txBody>
      </p:sp>
      <p:pic>
        <p:nvPicPr>
          <p:cNvPr id="3" name="Picture 2" descr="Github">
            <a:extLst>
              <a:ext uri="{FF2B5EF4-FFF2-40B4-BE49-F238E27FC236}">
                <a16:creationId xmlns:a16="http://schemas.microsoft.com/office/drawing/2014/main" id="{E33BE8D3-2CE9-7D55-552F-003658241A4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345" t="28626" r="5430" b="32374"/>
          <a:stretch>
            <a:fillRect/>
          </a:stretch>
        </p:blipFill>
        <p:spPr bwMode="auto">
          <a:xfrm>
            <a:off x="4878174" y="3132742"/>
            <a:ext cx="2266308" cy="726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5859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5A0CA-0826-DD84-A215-606472ED70D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C1C7C73-CC29-B949-17A6-3E69B947B5AE}"/>
              </a:ext>
            </a:extLst>
          </p:cNvPr>
          <p:cNvSpPr>
            <a:spLocks noGrp="1"/>
          </p:cNvSpPr>
          <p:nvPr>
            <p:ph type="sldNum" sz="quarter" idx="12"/>
          </p:nvPr>
        </p:nvSpPr>
        <p:spPr/>
        <p:txBody>
          <a:bodyPr/>
          <a:lstStyle/>
          <a:p>
            <a:fld id="{B9496208-0396-4DEE-9187-2167066D100E}" type="slidenum">
              <a:rPr lang="en-US" smtClean="0"/>
              <a:t>16</a:t>
            </a:fld>
            <a:endParaRPr lang="en-US"/>
          </a:p>
        </p:txBody>
      </p:sp>
      <p:sp>
        <p:nvSpPr>
          <p:cNvPr id="5" name="TextBox 4">
            <a:extLst>
              <a:ext uri="{FF2B5EF4-FFF2-40B4-BE49-F238E27FC236}">
                <a16:creationId xmlns:a16="http://schemas.microsoft.com/office/drawing/2014/main" id="{E1FE23D7-2B08-543C-E675-E811D6EA4ACC}"/>
              </a:ext>
            </a:extLst>
          </p:cNvPr>
          <p:cNvSpPr txBox="1"/>
          <p:nvPr/>
        </p:nvSpPr>
        <p:spPr>
          <a:xfrm>
            <a:off x="478499" y="589583"/>
            <a:ext cx="11068042" cy="523220"/>
          </a:xfrm>
          <a:prstGeom prst="rect">
            <a:avLst/>
          </a:prstGeom>
          <a:noFill/>
        </p:spPr>
        <p:txBody>
          <a:bodyPr wrap="square" rtlCol="0">
            <a:spAutoFit/>
          </a:bodyPr>
          <a:lstStyle/>
          <a:p>
            <a:r>
              <a:rPr lang="en-US" sz="2800" b="1" dirty="0"/>
              <a:t>What are GitHub Actions?</a:t>
            </a:r>
          </a:p>
        </p:txBody>
      </p:sp>
      <p:pic>
        <p:nvPicPr>
          <p:cNvPr id="8" name="Picture 7">
            <a:extLst>
              <a:ext uri="{FF2B5EF4-FFF2-40B4-BE49-F238E27FC236}">
                <a16:creationId xmlns:a16="http://schemas.microsoft.com/office/drawing/2014/main" id="{88C0D507-BAB5-86C0-4182-8F059EFF225E}"/>
              </a:ext>
            </a:extLst>
          </p:cNvPr>
          <p:cNvPicPr>
            <a:picLocks noChangeAspect="1"/>
          </p:cNvPicPr>
          <p:nvPr/>
        </p:nvPicPr>
        <p:blipFill>
          <a:blip r:embed="rId2"/>
          <a:stretch>
            <a:fillRect/>
          </a:stretch>
        </p:blipFill>
        <p:spPr>
          <a:xfrm>
            <a:off x="176576" y="6100895"/>
            <a:ext cx="1171809" cy="686922"/>
          </a:xfrm>
          <a:prstGeom prst="rect">
            <a:avLst/>
          </a:prstGeom>
        </p:spPr>
      </p:pic>
      <p:sp>
        <p:nvSpPr>
          <p:cNvPr id="2" name="TextBox 1">
            <a:extLst>
              <a:ext uri="{FF2B5EF4-FFF2-40B4-BE49-F238E27FC236}">
                <a16:creationId xmlns:a16="http://schemas.microsoft.com/office/drawing/2014/main" id="{0C8A409C-0504-FEF6-9BD7-7D75134AD804}"/>
              </a:ext>
            </a:extLst>
          </p:cNvPr>
          <p:cNvSpPr txBox="1"/>
          <p:nvPr/>
        </p:nvSpPr>
        <p:spPr>
          <a:xfrm>
            <a:off x="645459" y="1425388"/>
            <a:ext cx="10421470" cy="5016758"/>
          </a:xfrm>
          <a:prstGeom prst="rect">
            <a:avLst/>
          </a:prstGeom>
          <a:noFill/>
        </p:spPr>
        <p:txBody>
          <a:bodyPr wrap="square" rtlCol="0">
            <a:spAutoFit/>
          </a:bodyPr>
          <a:lstStyle/>
          <a:p>
            <a:r>
              <a:rPr lang="en-US" sz="2000" dirty="0"/>
              <a:t>GitHub Actions are essentially free compute power to execute code using </a:t>
            </a:r>
            <a:r>
              <a:rPr lang="en-US" sz="2000" b="1" dirty="0"/>
              <a:t>a series of instructions. </a:t>
            </a:r>
            <a:r>
              <a:rPr lang="en-US" sz="2000" dirty="0"/>
              <a:t>It is GitHub’s service to automate workflows from a repository based on an event trigger using their virtual machines </a:t>
            </a:r>
          </a:p>
          <a:p>
            <a:endParaRPr lang="en-US" sz="2000" dirty="0"/>
          </a:p>
          <a:p>
            <a:r>
              <a:rPr lang="en-US" sz="2000" b="1" dirty="0"/>
              <a:t>How it works: </a:t>
            </a:r>
          </a:p>
          <a:p>
            <a:pPr marL="285750" indent="-285750">
              <a:buFont typeface="Arial" panose="020B0604020202020204" pitchFamily="34" charset="0"/>
              <a:buChar char="•"/>
            </a:pPr>
            <a:r>
              <a:rPr lang="en-US" sz="2000" dirty="0"/>
              <a:t>An action is configured by uploading a YAML file containing machine specifications, event triggers and a sequence of instructions (jobs) to be run from that machine’s shell into the ‘Actions’ section on a repository</a:t>
            </a:r>
          </a:p>
          <a:p>
            <a:pPr marL="285750" indent="-285750">
              <a:buFont typeface="Arial" panose="020B0604020202020204" pitchFamily="34" charset="0"/>
              <a:buChar char="•"/>
            </a:pPr>
            <a:r>
              <a:rPr lang="en-US" sz="2000" dirty="0"/>
              <a:t>GitHub ‘listens’ to the specified event, interprets these instructions, and allocates some of its computer resources to execute the routine</a:t>
            </a:r>
          </a:p>
          <a:p>
            <a:endParaRPr lang="en-US" sz="2000" dirty="0"/>
          </a:p>
          <a:p>
            <a:r>
              <a:rPr lang="en-US" sz="2000" b="1" dirty="0"/>
              <a:t>Perks:</a:t>
            </a:r>
            <a:r>
              <a:rPr lang="en-US" sz="2000" dirty="0"/>
              <a:t> </a:t>
            </a:r>
          </a:p>
          <a:p>
            <a:pPr marL="285750" indent="-285750">
              <a:buFont typeface="Arial" panose="020B0604020202020204" pitchFamily="34" charset="0"/>
              <a:buChar char="•"/>
            </a:pPr>
            <a:r>
              <a:rPr lang="en-US" sz="2000" dirty="0"/>
              <a:t>Performance metrics, seamless updates to repository via git integration, calling third-party jobs into the routine, compatible with testing suites to add an extra layer of protection when modifying outputs </a:t>
            </a:r>
          </a:p>
          <a:p>
            <a:endParaRPr lang="en-US" sz="2000" dirty="0"/>
          </a:p>
        </p:txBody>
      </p:sp>
    </p:spTree>
    <p:extLst>
      <p:ext uri="{BB962C8B-B14F-4D97-AF65-F5344CB8AC3E}">
        <p14:creationId xmlns:p14="http://schemas.microsoft.com/office/powerpoint/2010/main" val="41861750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00223-7CBD-43A3-8866-577DCA40498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EDD94D8-8B39-7661-1ABF-4D771E454FE0}"/>
              </a:ext>
            </a:extLst>
          </p:cNvPr>
          <p:cNvSpPr>
            <a:spLocks noGrp="1"/>
          </p:cNvSpPr>
          <p:nvPr>
            <p:ph type="sldNum" sz="quarter" idx="12"/>
          </p:nvPr>
        </p:nvSpPr>
        <p:spPr/>
        <p:txBody>
          <a:bodyPr/>
          <a:lstStyle/>
          <a:p>
            <a:fld id="{B9496208-0396-4DEE-9187-2167066D100E}" type="slidenum">
              <a:rPr lang="en-US" smtClean="0"/>
              <a:t>17</a:t>
            </a:fld>
            <a:endParaRPr lang="en-US"/>
          </a:p>
        </p:txBody>
      </p:sp>
      <p:pic>
        <p:nvPicPr>
          <p:cNvPr id="8" name="Picture 7">
            <a:extLst>
              <a:ext uri="{FF2B5EF4-FFF2-40B4-BE49-F238E27FC236}">
                <a16:creationId xmlns:a16="http://schemas.microsoft.com/office/drawing/2014/main" id="{B5E5A89F-EFF9-D22D-FD06-490239D1F930}"/>
              </a:ext>
            </a:extLst>
          </p:cNvPr>
          <p:cNvPicPr>
            <a:picLocks noChangeAspect="1"/>
          </p:cNvPicPr>
          <p:nvPr/>
        </p:nvPicPr>
        <p:blipFill>
          <a:blip r:embed="rId2"/>
          <a:stretch>
            <a:fillRect/>
          </a:stretch>
        </p:blipFill>
        <p:spPr>
          <a:xfrm>
            <a:off x="176576" y="6100895"/>
            <a:ext cx="1171809" cy="686922"/>
          </a:xfrm>
          <a:prstGeom prst="rect">
            <a:avLst/>
          </a:prstGeom>
        </p:spPr>
      </p:pic>
      <p:sp>
        <p:nvSpPr>
          <p:cNvPr id="2" name="TextBox 1">
            <a:extLst>
              <a:ext uri="{FF2B5EF4-FFF2-40B4-BE49-F238E27FC236}">
                <a16:creationId xmlns:a16="http://schemas.microsoft.com/office/drawing/2014/main" id="{3E5A4141-0682-282D-3DEF-DD6178AA0601}"/>
              </a:ext>
            </a:extLst>
          </p:cNvPr>
          <p:cNvSpPr txBox="1"/>
          <p:nvPr/>
        </p:nvSpPr>
        <p:spPr>
          <a:xfrm>
            <a:off x="478499" y="589583"/>
            <a:ext cx="11068042" cy="523220"/>
          </a:xfrm>
          <a:prstGeom prst="rect">
            <a:avLst/>
          </a:prstGeom>
          <a:noFill/>
        </p:spPr>
        <p:txBody>
          <a:bodyPr wrap="square" rtlCol="0">
            <a:spAutoFit/>
          </a:bodyPr>
          <a:lstStyle/>
          <a:p>
            <a:r>
              <a:rPr lang="en-US" sz="2800" b="1" dirty="0"/>
              <a:t>.</a:t>
            </a:r>
            <a:r>
              <a:rPr lang="en-US" sz="2800" b="1" dirty="0" err="1"/>
              <a:t>yml</a:t>
            </a:r>
            <a:r>
              <a:rPr lang="en-US" sz="2800" b="1" dirty="0"/>
              <a:t> file</a:t>
            </a:r>
          </a:p>
        </p:txBody>
      </p:sp>
      <p:sp>
        <p:nvSpPr>
          <p:cNvPr id="3" name="TextBox 2">
            <a:extLst>
              <a:ext uri="{FF2B5EF4-FFF2-40B4-BE49-F238E27FC236}">
                <a16:creationId xmlns:a16="http://schemas.microsoft.com/office/drawing/2014/main" id="{7751CD34-92FC-D9B6-E6EC-DE65ACDC305A}"/>
              </a:ext>
            </a:extLst>
          </p:cNvPr>
          <p:cNvSpPr txBox="1"/>
          <p:nvPr/>
        </p:nvSpPr>
        <p:spPr>
          <a:xfrm>
            <a:off x="588703" y="1339592"/>
            <a:ext cx="4870265" cy="4093428"/>
          </a:xfrm>
          <a:prstGeom prst="rect">
            <a:avLst/>
          </a:prstGeom>
          <a:noFill/>
        </p:spPr>
        <p:txBody>
          <a:bodyPr wrap="square" rtlCol="0">
            <a:spAutoFit/>
          </a:bodyPr>
          <a:lstStyle/>
          <a:p>
            <a:r>
              <a:rPr lang="en-US" sz="2000" b="1" dirty="0"/>
              <a:t>Components</a:t>
            </a:r>
          </a:p>
          <a:p>
            <a:pPr marL="342900" indent="-342900">
              <a:buFontTx/>
              <a:buChar char="-"/>
            </a:pPr>
            <a:r>
              <a:rPr lang="en-US" sz="2000" b="1" dirty="0"/>
              <a:t>On: </a:t>
            </a:r>
            <a:r>
              <a:rPr lang="en-US" sz="2000" dirty="0"/>
              <a:t>how the action is triggered</a:t>
            </a:r>
          </a:p>
          <a:p>
            <a:pPr marL="800100" lvl="1" indent="-342900">
              <a:buFontTx/>
              <a:buChar char="-"/>
            </a:pPr>
            <a:r>
              <a:rPr lang="en-US" sz="2000" dirty="0"/>
              <a:t>Schedule</a:t>
            </a:r>
          </a:p>
          <a:p>
            <a:pPr marL="800100" lvl="1" indent="-342900">
              <a:buFontTx/>
              <a:buChar char="-"/>
            </a:pPr>
            <a:r>
              <a:rPr lang="en-US" sz="2000" dirty="0"/>
              <a:t>On given actions (pull requests, pushes to main/branches)</a:t>
            </a:r>
          </a:p>
          <a:p>
            <a:pPr marL="800100" lvl="1" indent="-342900">
              <a:buFontTx/>
              <a:buChar char="-"/>
            </a:pPr>
            <a:r>
              <a:rPr lang="en-US" sz="2000" dirty="0"/>
              <a:t>Workflow dispatch (manually triggered)</a:t>
            </a:r>
          </a:p>
          <a:p>
            <a:pPr marL="342900" indent="-342900">
              <a:buFontTx/>
              <a:buChar char="-"/>
            </a:pPr>
            <a:r>
              <a:rPr lang="en-US" sz="2000" b="1" dirty="0"/>
              <a:t>Jobs: </a:t>
            </a:r>
            <a:r>
              <a:rPr lang="en-US" sz="2000" dirty="0"/>
              <a:t>what the action does</a:t>
            </a:r>
          </a:p>
          <a:p>
            <a:pPr marL="800100" lvl="1" indent="-342900">
              <a:buFontTx/>
              <a:buChar char="-"/>
            </a:pPr>
            <a:r>
              <a:rPr lang="en-US" sz="2000" dirty="0"/>
              <a:t>Preset or self-defined sets of instructions of “steps” (there is an “Action” Marketplace)</a:t>
            </a:r>
          </a:p>
          <a:p>
            <a:pPr marL="800100" lvl="1" indent="-342900">
              <a:buFontTx/>
              <a:buChar char="-"/>
            </a:pPr>
            <a:endParaRPr lang="en-US" sz="2000" b="1" dirty="0"/>
          </a:p>
          <a:p>
            <a:pPr marL="342900" indent="-342900">
              <a:buFontTx/>
              <a:buChar char="-"/>
            </a:pPr>
            <a:endParaRPr lang="en-US" sz="2000" dirty="0">
              <a:highlight>
                <a:srgbClr val="FFFF00"/>
              </a:highlight>
            </a:endParaRPr>
          </a:p>
        </p:txBody>
      </p:sp>
      <p:pic>
        <p:nvPicPr>
          <p:cNvPr id="3076" name="Picture 4">
            <a:extLst>
              <a:ext uri="{FF2B5EF4-FFF2-40B4-BE49-F238E27FC236}">
                <a16:creationId xmlns:a16="http://schemas.microsoft.com/office/drawing/2014/main" id="{FBE5C41F-EF0D-BD42-9598-F858EA7DA7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6542" y="669796"/>
            <a:ext cx="6808882" cy="54330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4323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6ADF15F-08C0-3449-31B8-DDBBCBCC400B}"/>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7006B3FE-0D1D-1E62-2205-ACDBA1E22D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6C269D-0B5B-418D-6059-69CC49784F9D}"/>
              </a:ext>
            </a:extLst>
          </p:cNvPr>
          <p:cNvSpPr>
            <a:spLocks noGrp="1"/>
          </p:cNvSpPr>
          <p:nvPr>
            <p:ph type="title"/>
          </p:nvPr>
        </p:nvSpPr>
        <p:spPr>
          <a:xfrm>
            <a:off x="424011" y="879717"/>
            <a:ext cx="2732045" cy="5257799"/>
          </a:xfrm>
        </p:spPr>
        <p:txBody>
          <a:bodyPr vert="horz" lIns="91440" tIns="45720" rIns="91440" bIns="45720" rtlCol="0" anchor="ctr">
            <a:normAutofit/>
          </a:bodyPr>
          <a:lstStyle/>
          <a:p>
            <a:r>
              <a:rPr lang="en-US" sz="2400" dirty="0">
                <a:solidFill>
                  <a:srgbClr val="2C2C2C"/>
                </a:solidFill>
              </a:rPr>
              <a:t>Set up our project in a </a:t>
            </a:r>
            <a:r>
              <a:rPr lang="en-US" sz="2400" b="1" dirty="0">
                <a:solidFill>
                  <a:srgbClr val="2C2C2C"/>
                </a:solidFill>
              </a:rPr>
              <a:t>GitHub repository</a:t>
            </a:r>
          </a:p>
        </p:txBody>
      </p:sp>
      <p:sp>
        <p:nvSpPr>
          <p:cNvPr id="14" name="Rounded Rectangle 9">
            <a:extLst>
              <a:ext uri="{FF2B5EF4-FFF2-40B4-BE49-F238E27FC236}">
                <a16:creationId xmlns:a16="http://schemas.microsoft.com/office/drawing/2014/main" id="{840E14F7-21C8-A7C1-C155-4D92AEBDEA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0067"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F1969E42-1BB1-9AAE-62AB-D1166CEF2549}"/>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457200">
              <a:spcAft>
                <a:spcPts val="600"/>
              </a:spcAft>
            </a:pPr>
            <a:fld id="{B9496208-0396-4DEE-9187-2167066D100E}" type="slidenum">
              <a:rPr lang="en-US">
                <a:solidFill>
                  <a:srgbClr val="595959"/>
                </a:solidFill>
              </a:rPr>
              <a:pPr defTabSz="457200">
                <a:spcAft>
                  <a:spcPts val="600"/>
                </a:spcAft>
              </a:pPr>
              <a:t>18</a:t>
            </a:fld>
            <a:endParaRPr lang="en-US">
              <a:solidFill>
                <a:srgbClr val="595959"/>
              </a:solidFill>
            </a:endParaRPr>
          </a:p>
        </p:txBody>
      </p:sp>
      <p:pic>
        <p:nvPicPr>
          <p:cNvPr id="3" name="Picture Placeholder 2">
            <a:extLst>
              <a:ext uri="{FF2B5EF4-FFF2-40B4-BE49-F238E27FC236}">
                <a16:creationId xmlns:a16="http://schemas.microsoft.com/office/drawing/2014/main" id="{A9C5F68D-609E-089D-9B37-0383085B493C}"/>
              </a:ext>
            </a:extLst>
          </p:cNvPr>
          <p:cNvPicPr>
            <a:picLocks noGrp="1" noChangeAspect="1"/>
          </p:cNvPicPr>
          <p:nvPr>
            <p:ph type="pic" idx="1"/>
          </p:nvPr>
        </p:nvPicPr>
        <p:blipFill>
          <a:blip r:embed="rId2"/>
          <a:srcRect l="150" r="150"/>
          <a:stretch>
            <a:fillRect/>
          </a:stretch>
        </p:blipFill>
        <p:spPr>
          <a:xfrm>
            <a:off x="4146646" y="613524"/>
            <a:ext cx="6995857" cy="5523992"/>
          </a:xfrm>
          <a:prstGeom prst="rect">
            <a:avLst/>
          </a:prstGeom>
        </p:spPr>
      </p:pic>
    </p:spTree>
    <p:extLst>
      <p:ext uri="{BB962C8B-B14F-4D97-AF65-F5344CB8AC3E}">
        <p14:creationId xmlns:p14="http://schemas.microsoft.com/office/powerpoint/2010/main" val="38514368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710BE-05B9-F3A5-0E86-88B03E84F6F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EC066CD-FC01-0F6A-FBD3-BA0FEFA405C2}"/>
              </a:ext>
            </a:extLst>
          </p:cNvPr>
          <p:cNvSpPr>
            <a:spLocks noGrp="1"/>
          </p:cNvSpPr>
          <p:nvPr>
            <p:ph type="sldNum" sz="quarter" idx="12"/>
          </p:nvPr>
        </p:nvSpPr>
        <p:spPr/>
        <p:txBody>
          <a:bodyPr/>
          <a:lstStyle/>
          <a:p>
            <a:fld id="{B9496208-0396-4DEE-9187-2167066D100E}" type="slidenum">
              <a:rPr lang="en-US" smtClean="0"/>
              <a:t>19</a:t>
            </a:fld>
            <a:endParaRPr lang="en-US"/>
          </a:p>
        </p:txBody>
      </p:sp>
      <p:pic>
        <p:nvPicPr>
          <p:cNvPr id="8" name="Picture 7">
            <a:extLst>
              <a:ext uri="{FF2B5EF4-FFF2-40B4-BE49-F238E27FC236}">
                <a16:creationId xmlns:a16="http://schemas.microsoft.com/office/drawing/2014/main" id="{3229E06E-F86D-C5FB-B7E2-341588BEBD3D}"/>
              </a:ext>
            </a:extLst>
          </p:cNvPr>
          <p:cNvPicPr>
            <a:picLocks noChangeAspect="1"/>
          </p:cNvPicPr>
          <p:nvPr/>
        </p:nvPicPr>
        <p:blipFill>
          <a:blip r:embed="rId2"/>
          <a:stretch>
            <a:fillRect/>
          </a:stretch>
        </p:blipFill>
        <p:spPr>
          <a:xfrm>
            <a:off x="176576" y="6100895"/>
            <a:ext cx="1171809" cy="686922"/>
          </a:xfrm>
          <a:prstGeom prst="rect">
            <a:avLst/>
          </a:prstGeom>
        </p:spPr>
      </p:pic>
      <p:sp>
        <p:nvSpPr>
          <p:cNvPr id="2" name="TextBox 1">
            <a:extLst>
              <a:ext uri="{FF2B5EF4-FFF2-40B4-BE49-F238E27FC236}">
                <a16:creationId xmlns:a16="http://schemas.microsoft.com/office/drawing/2014/main" id="{6DE086B5-99C7-5950-0E15-12FD9BE66012}"/>
              </a:ext>
            </a:extLst>
          </p:cNvPr>
          <p:cNvSpPr txBox="1"/>
          <p:nvPr/>
        </p:nvSpPr>
        <p:spPr>
          <a:xfrm>
            <a:off x="478499" y="589583"/>
            <a:ext cx="11068042" cy="523220"/>
          </a:xfrm>
          <a:prstGeom prst="rect">
            <a:avLst/>
          </a:prstGeom>
          <a:noFill/>
        </p:spPr>
        <p:txBody>
          <a:bodyPr wrap="square" rtlCol="0">
            <a:spAutoFit/>
          </a:bodyPr>
          <a:lstStyle/>
          <a:p>
            <a:r>
              <a:rPr lang="en-US" sz="2800" b="1" dirty="0"/>
              <a:t>Our application: </a:t>
            </a:r>
            <a:r>
              <a:rPr lang="en-US" sz="2800" b="1" dirty="0" err="1"/>
              <a:t>main.yml</a:t>
            </a:r>
            <a:endParaRPr lang="en-US" sz="2800" b="1" dirty="0"/>
          </a:p>
        </p:txBody>
      </p:sp>
      <p:sp>
        <p:nvSpPr>
          <p:cNvPr id="7" name="TextBox 6">
            <a:extLst>
              <a:ext uri="{FF2B5EF4-FFF2-40B4-BE49-F238E27FC236}">
                <a16:creationId xmlns:a16="http://schemas.microsoft.com/office/drawing/2014/main" id="{4BF8CCDC-6F30-D3A6-3A99-CFB96DF883FA}"/>
              </a:ext>
            </a:extLst>
          </p:cNvPr>
          <p:cNvSpPr txBox="1"/>
          <p:nvPr/>
        </p:nvSpPr>
        <p:spPr>
          <a:xfrm>
            <a:off x="588703" y="1339591"/>
            <a:ext cx="6282744" cy="5078313"/>
          </a:xfrm>
          <a:prstGeom prst="rect">
            <a:avLst/>
          </a:prstGeom>
          <a:noFill/>
        </p:spPr>
        <p:txBody>
          <a:bodyPr wrap="square" rtlCol="0">
            <a:spAutoFit/>
          </a:bodyPr>
          <a:lstStyle/>
          <a:p>
            <a:pPr marL="342900" indent="-342900">
              <a:buFont typeface="Arial" panose="020B0604020202020204" pitchFamily="34" charset="0"/>
              <a:buChar char="•"/>
            </a:pPr>
            <a:r>
              <a:rPr lang="en-US" b="1" dirty="0"/>
              <a:t>Define an event trigger: </a:t>
            </a:r>
            <a:r>
              <a:rPr lang="en-US" dirty="0"/>
              <a:t>We chose a timed routine that executes the code every </a:t>
            </a:r>
            <a:r>
              <a:rPr lang="en-US" dirty="0" err="1"/>
              <a:t>monday</a:t>
            </a:r>
            <a:r>
              <a:rPr lang="en-US" dirty="0"/>
              <a:t> morning so that each week we can have a fresh version of the geometries updated by Tax Map</a:t>
            </a:r>
          </a:p>
          <a:p>
            <a:pPr marL="342900" indent="-342900">
              <a:buFont typeface="Arial" panose="020B0604020202020204" pitchFamily="34" charset="0"/>
              <a:buChar char="•"/>
            </a:pPr>
            <a:r>
              <a:rPr lang="en-US" b="1" dirty="0"/>
              <a:t>Choose a VM: </a:t>
            </a:r>
            <a:r>
              <a:rPr lang="en-US" dirty="0"/>
              <a:t>Initialize an Ubuntu 24.04 instance</a:t>
            </a:r>
          </a:p>
          <a:p>
            <a:pPr marL="342900" indent="-342900">
              <a:buFont typeface="Arial" panose="020B0604020202020204" pitchFamily="34" charset="0"/>
              <a:buChar char="•"/>
            </a:pPr>
            <a:r>
              <a:rPr lang="en-US" b="1" dirty="0"/>
              <a:t>Check out the repository </a:t>
            </a:r>
            <a:r>
              <a:rPr lang="en-US" dirty="0"/>
              <a:t>in its current state using pre-configured credentials</a:t>
            </a:r>
          </a:p>
          <a:p>
            <a:pPr marL="342900" indent="-342900">
              <a:buFont typeface="Arial" panose="020B0604020202020204" pitchFamily="34" charset="0"/>
              <a:buChar char="•"/>
            </a:pPr>
            <a:r>
              <a:rPr lang="en-US" b="1" dirty="0"/>
              <a:t>Install</a:t>
            </a:r>
            <a:r>
              <a:rPr lang="en-US" dirty="0"/>
              <a:t> program requirements:</a:t>
            </a:r>
          </a:p>
          <a:p>
            <a:pPr marL="800100" lvl="1" indent="-342900">
              <a:buFont typeface="Arial" panose="020B0604020202020204" pitchFamily="34" charset="0"/>
              <a:buChar char="•"/>
            </a:pPr>
            <a:r>
              <a:rPr lang="en-US" dirty="0" err="1"/>
              <a:t>uv</a:t>
            </a:r>
            <a:r>
              <a:rPr lang="en-US" dirty="0"/>
              <a:t> (python env manager), python, additional dependencies for system compatibility</a:t>
            </a:r>
          </a:p>
          <a:p>
            <a:pPr marL="342900" indent="-342900">
              <a:buFont typeface="Arial" panose="020B0604020202020204" pitchFamily="34" charset="0"/>
              <a:buChar char="•"/>
            </a:pPr>
            <a:r>
              <a:rPr lang="en-US" b="1" dirty="0"/>
              <a:t>Erase</a:t>
            </a:r>
            <a:r>
              <a:rPr lang="en-US" dirty="0"/>
              <a:t> current version of datasets </a:t>
            </a:r>
          </a:p>
          <a:p>
            <a:pPr marL="342900" indent="-342900">
              <a:buFont typeface="Arial" panose="020B0604020202020204" pitchFamily="34" charset="0"/>
              <a:buChar char="•"/>
            </a:pPr>
            <a:r>
              <a:rPr lang="en-US" b="1" dirty="0"/>
              <a:t>Loop over python code </a:t>
            </a:r>
            <a:r>
              <a:rPr lang="en-US" dirty="0"/>
              <a:t>to query, preprocess and save most recent datasets for different scales (</a:t>
            </a:r>
            <a:r>
              <a:rPr lang="en-US" dirty="0" err="1"/>
              <a:t>boros</a:t>
            </a:r>
            <a:r>
              <a:rPr lang="en-US" dirty="0"/>
              <a:t>, blocks, lots) and desired geometry types (polygons, centroids)</a:t>
            </a:r>
          </a:p>
          <a:p>
            <a:pPr marL="342900" indent="-342900">
              <a:buFont typeface="Arial" panose="020B0604020202020204" pitchFamily="34" charset="0"/>
              <a:buChar char="•"/>
            </a:pPr>
            <a:r>
              <a:rPr lang="en-US" b="1" dirty="0"/>
              <a:t>Run tests </a:t>
            </a:r>
            <a:r>
              <a:rPr lang="en-US" dirty="0"/>
              <a:t>to check for valid data types and formats</a:t>
            </a:r>
          </a:p>
          <a:p>
            <a:pPr marL="342900" indent="-342900">
              <a:buFont typeface="Arial" panose="020B0604020202020204" pitchFamily="34" charset="0"/>
              <a:buChar char="•"/>
            </a:pPr>
            <a:r>
              <a:rPr lang="en-US" b="1" dirty="0"/>
              <a:t>Commit and push changes </a:t>
            </a:r>
            <a:r>
              <a:rPr lang="en-US" dirty="0"/>
              <a:t>from virtual machine into remote repo</a:t>
            </a:r>
          </a:p>
          <a:p>
            <a:pPr marL="342900" indent="-342900">
              <a:buFont typeface="Arial" panose="020B0604020202020204" pitchFamily="34" charset="0"/>
              <a:buChar char="•"/>
            </a:pPr>
            <a:endParaRPr lang="en-US" dirty="0">
              <a:highlight>
                <a:srgbClr val="FFFF00"/>
              </a:highlight>
            </a:endParaRPr>
          </a:p>
        </p:txBody>
      </p:sp>
      <p:pic>
        <p:nvPicPr>
          <p:cNvPr id="4098" name="Picture 2">
            <a:extLst>
              <a:ext uri="{FF2B5EF4-FFF2-40B4-BE49-F238E27FC236}">
                <a16:creationId xmlns:a16="http://schemas.microsoft.com/office/drawing/2014/main" id="{FFD96182-AC28-B452-B661-42CEF21C19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8774" y="192875"/>
            <a:ext cx="5054727" cy="62514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08798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7AF53-FEA2-87B0-969D-C38D6CAF4B5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955E590-7C79-7927-CCDF-CA9E29992C4C}"/>
              </a:ext>
            </a:extLst>
          </p:cNvPr>
          <p:cNvSpPr>
            <a:spLocks noGrp="1"/>
          </p:cNvSpPr>
          <p:nvPr>
            <p:ph type="sldNum" sz="quarter" idx="12"/>
          </p:nvPr>
        </p:nvSpPr>
        <p:spPr/>
        <p:txBody>
          <a:bodyPr/>
          <a:lstStyle/>
          <a:p>
            <a:fld id="{B9496208-0396-4DEE-9187-2167066D100E}" type="slidenum">
              <a:rPr lang="en-US" smtClean="0"/>
              <a:t>20</a:t>
            </a:fld>
            <a:endParaRPr lang="en-US"/>
          </a:p>
        </p:txBody>
      </p:sp>
      <p:pic>
        <p:nvPicPr>
          <p:cNvPr id="8" name="Picture 7">
            <a:extLst>
              <a:ext uri="{FF2B5EF4-FFF2-40B4-BE49-F238E27FC236}">
                <a16:creationId xmlns:a16="http://schemas.microsoft.com/office/drawing/2014/main" id="{7A7951C1-23A2-A3FE-404D-B9BC4EE658C8}"/>
              </a:ext>
            </a:extLst>
          </p:cNvPr>
          <p:cNvPicPr>
            <a:picLocks noChangeAspect="1"/>
          </p:cNvPicPr>
          <p:nvPr/>
        </p:nvPicPr>
        <p:blipFill>
          <a:blip r:embed="rId2"/>
          <a:stretch>
            <a:fillRect/>
          </a:stretch>
        </p:blipFill>
        <p:spPr>
          <a:xfrm>
            <a:off x="176576" y="6100895"/>
            <a:ext cx="1171809" cy="686922"/>
          </a:xfrm>
          <a:prstGeom prst="rect">
            <a:avLst/>
          </a:prstGeom>
        </p:spPr>
      </p:pic>
      <p:sp>
        <p:nvSpPr>
          <p:cNvPr id="2" name="TextBox 1">
            <a:extLst>
              <a:ext uri="{FF2B5EF4-FFF2-40B4-BE49-F238E27FC236}">
                <a16:creationId xmlns:a16="http://schemas.microsoft.com/office/drawing/2014/main" id="{A217542D-768C-E8E5-8B75-112F58533FDF}"/>
              </a:ext>
            </a:extLst>
          </p:cNvPr>
          <p:cNvSpPr txBox="1"/>
          <p:nvPr/>
        </p:nvSpPr>
        <p:spPr>
          <a:xfrm>
            <a:off x="478499" y="589583"/>
            <a:ext cx="11068042" cy="523220"/>
          </a:xfrm>
          <a:prstGeom prst="rect">
            <a:avLst/>
          </a:prstGeom>
          <a:noFill/>
        </p:spPr>
        <p:txBody>
          <a:bodyPr wrap="square" rtlCol="0">
            <a:spAutoFit/>
          </a:bodyPr>
          <a:lstStyle/>
          <a:p>
            <a:r>
              <a:rPr lang="en-US" sz="2800" b="1" dirty="0"/>
              <a:t>Workflows: an execution of the .</a:t>
            </a:r>
            <a:r>
              <a:rPr lang="en-US" sz="2800" b="1" dirty="0" err="1"/>
              <a:t>yml</a:t>
            </a:r>
            <a:r>
              <a:rPr lang="en-US" sz="2800" b="1" dirty="0"/>
              <a:t> files</a:t>
            </a:r>
          </a:p>
        </p:txBody>
      </p:sp>
      <p:pic>
        <p:nvPicPr>
          <p:cNvPr id="5124" name="Picture 4">
            <a:extLst>
              <a:ext uri="{FF2B5EF4-FFF2-40B4-BE49-F238E27FC236}">
                <a16:creationId xmlns:a16="http://schemas.microsoft.com/office/drawing/2014/main" id="{27714062-512C-D08F-5E4F-10DDF1E650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840" y="1449023"/>
            <a:ext cx="10180320" cy="4060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63792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E7A07-2100-DB99-6243-2B3C94C2148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4FDC7F8-9BE7-FBF9-8E65-5AB4AE7C2B69}"/>
              </a:ext>
            </a:extLst>
          </p:cNvPr>
          <p:cNvSpPr>
            <a:spLocks noGrp="1"/>
          </p:cNvSpPr>
          <p:nvPr>
            <p:ph type="sldNum" sz="quarter" idx="12"/>
          </p:nvPr>
        </p:nvSpPr>
        <p:spPr/>
        <p:txBody>
          <a:bodyPr/>
          <a:lstStyle/>
          <a:p>
            <a:fld id="{B9496208-0396-4DEE-9187-2167066D100E}" type="slidenum">
              <a:rPr lang="en-US" smtClean="0"/>
              <a:t>21</a:t>
            </a:fld>
            <a:endParaRPr lang="en-US"/>
          </a:p>
        </p:txBody>
      </p:sp>
      <p:pic>
        <p:nvPicPr>
          <p:cNvPr id="8" name="Picture 7">
            <a:extLst>
              <a:ext uri="{FF2B5EF4-FFF2-40B4-BE49-F238E27FC236}">
                <a16:creationId xmlns:a16="http://schemas.microsoft.com/office/drawing/2014/main" id="{EFF0B17B-6715-375B-E0DE-86849B443BE5}"/>
              </a:ext>
            </a:extLst>
          </p:cNvPr>
          <p:cNvPicPr>
            <a:picLocks noChangeAspect="1"/>
          </p:cNvPicPr>
          <p:nvPr/>
        </p:nvPicPr>
        <p:blipFill>
          <a:blip r:embed="rId2"/>
          <a:stretch>
            <a:fillRect/>
          </a:stretch>
        </p:blipFill>
        <p:spPr>
          <a:xfrm>
            <a:off x="176576" y="6100895"/>
            <a:ext cx="1171809" cy="686922"/>
          </a:xfrm>
          <a:prstGeom prst="rect">
            <a:avLst/>
          </a:prstGeom>
        </p:spPr>
      </p:pic>
      <p:sp>
        <p:nvSpPr>
          <p:cNvPr id="2" name="TextBox 1">
            <a:extLst>
              <a:ext uri="{FF2B5EF4-FFF2-40B4-BE49-F238E27FC236}">
                <a16:creationId xmlns:a16="http://schemas.microsoft.com/office/drawing/2014/main" id="{215DCFF0-C6BE-A016-EE51-9849D63632F9}"/>
              </a:ext>
            </a:extLst>
          </p:cNvPr>
          <p:cNvSpPr txBox="1"/>
          <p:nvPr/>
        </p:nvSpPr>
        <p:spPr>
          <a:xfrm>
            <a:off x="478499" y="589583"/>
            <a:ext cx="11068042" cy="523220"/>
          </a:xfrm>
          <a:prstGeom prst="rect">
            <a:avLst/>
          </a:prstGeom>
          <a:noFill/>
        </p:spPr>
        <p:txBody>
          <a:bodyPr wrap="square" rtlCol="0">
            <a:spAutoFit/>
          </a:bodyPr>
          <a:lstStyle/>
          <a:p>
            <a:r>
              <a:rPr lang="en-US" sz="2800" b="1" dirty="0"/>
              <a:t>Debugging a failed workflow</a:t>
            </a:r>
          </a:p>
        </p:txBody>
      </p:sp>
      <p:pic>
        <p:nvPicPr>
          <p:cNvPr id="8194" name="Picture 2">
            <a:extLst>
              <a:ext uri="{FF2B5EF4-FFF2-40B4-BE49-F238E27FC236}">
                <a16:creationId xmlns:a16="http://schemas.microsoft.com/office/drawing/2014/main" id="{565152C3-18C6-EE56-0A53-09C4BFB48C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499" y="1202903"/>
            <a:ext cx="10607190" cy="4799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89307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A472B-4D23-22E7-4A78-FE9D35763F7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E9DC1F4-FDDC-5C8E-0336-BE94AA1EC353}"/>
              </a:ext>
            </a:extLst>
          </p:cNvPr>
          <p:cNvSpPr>
            <a:spLocks noGrp="1"/>
          </p:cNvSpPr>
          <p:nvPr>
            <p:ph type="sldNum" sz="quarter" idx="12"/>
          </p:nvPr>
        </p:nvSpPr>
        <p:spPr/>
        <p:txBody>
          <a:bodyPr/>
          <a:lstStyle/>
          <a:p>
            <a:fld id="{B9496208-0396-4DEE-9187-2167066D100E}" type="slidenum">
              <a:rPr lang="en-US" smtClean="0"/>
              <a:t>22</a:t>
            </a:fld>
            <a:endParaRPr lang="en-US"/>
          </a:p>
        </p:txBody>
      </p:sp>
      <p:pic>
        <p:nvPicPr>
          <p:cNvPr id="8" name="Picture 7">
            <a:extLst>
              <a:ext uri="{FF2B5EF4-FFF2-40B4-BE49-F238E27FC236}">
                <a16:creationId xmlns:a16="http://schemas.microsoft.com/office/drawing/2014/main" id="{70086342-3B8E-39F6-B08E-8E651AFF760C}"/>
              </a:ext>
            </a:extLst>
          </p:cNvPr>
          <p:cNvPicPr>
            <a:picLocks noChangeAspect="1"/>
          </p:cNvPicPr>
          <p:nvPr/>
        </p:nvPicPr>
        <p:blipFill>
          <a:blip r:embed="rId2"/>
          <a:stretch>
            <a:fillRect/>
          </a:stretch>
        </p:blipFill>
        <p:spPr>
          <a:xfrm>
            <a:off x="176576" y="6100895"/>
            <a:ext cx="1171809" cy="686922"/>
          </a:xfrm>
          <a:prstGeom prst="rect">
            <a:avLst/>
          </a:prstGeom>
        </p:spPr>
      </p:pic>
      <p:sp>
        <p:nvSpPr>
          <p:cNvPr id="2" name="TextBox 1">
            <a:extLst>
              <a:ext uri="{FF2B5EF4-FFF2-40B4-BE49-F238E27FC236}">
                <a16:creationId xmlns:a16="http://schemas.microsoft.com/office/drawing/2014/main" id="{01C2DA5F-D807-4404-74B7-F6CE38852361}"/>
              </a:ext>
            </a:extLst>
          </p:cNvPr>
          <p:cNvSpPr txBox="1"/>
          <p:nvPr/>
        </p:nvSpPr>
        <p:spPr>
          <a:xfrm>
            <a:off x="478499" y="589583"/>
            <a:ext cx="11068042" cy="523220"/>
          </a:xfrm>
          <a:prstGeom prst="rect">
            <a:avLst/>
          </a:prstGeom>
          <a:noFill/>
        </p:spPr>
        <p:txBody>
          <a:bodyPr wrap="square" rtlCol="0">
            <a:spAutoFit/>
          </a:bodyPr>
          <a:lstStyle/>
          <a:p>
            <a:r>
              <a:rPr lang="en-US" sz="2800" b="1" dirty="0"/>
              <a:t>Debugging a failed workflow</a:t>
            </a:r>
          </a:p>
        </p:txBody>
      </p:sp>
      <p:pic>
        <p:nvPicPr>
          <p:cNvPr id="9218" name="Picture 2">
            <a:extLst>
              <a:ext uri="{FF2B5EF4-FFF2-40B4-BE49-F238E27FC236}">
                <a16:creationId xmlns:a16="http://schemas.microsoft.com/office/drawing/2014/main" id="{61E39F03-D90D-3938-D1D8-8413E62D63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499" y="1467350"/>
            <a:ext cx="6491607" cy="392329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8198A58A-0F23-1072-9802-95D7CA1ABE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8774" y="192875"/>
            <a:ext cx="5054727" cy="625148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60B05008-2C61-7274-B05A-C3DD7A39F946}"/>
              </a:ext>
            </a:extLst>
          </p:cNvPr>
          <p:cNvSpPr/>
          <p:nvPr/>
        </p:nvSpPr>
        <p:spPr>
          <a:xfrm>
            <a:off x="1862667" y="2381956"/>
            <a:ext cx="723515" cy="24117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FA3B10D-7F1D-BF22-3BFC-11F1CA545A3D}"/>
              </a:ext>
            </a:extLst>
          </p:cNvPr>
          <p:cNvSpPr/>
          <p:nvPr/>
        </p:nvSpPr>
        <p:spPr>
          <a:xfrm>
            <a:off x="7071706" y="5390649"/>
            <a:ext cx="1324148" cy="32666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03675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CB915-F579-4C5C-1F8D-8F5EADDEFB6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06A90A-D182-61CC-192E-D8682AAA86CD}"/>
              </a:ext>
            </a:extLst>
          </p:cNvPr>
          <p:cNvSpPr>
            <a:spLocks noGrp="1"/>
          </p:cNvSpPr>
          <p:nvPr>
            <p:ph type="sldNum" sz="quarter" idx="12"/>
          </p:nvPr>
        </p:nvSpPr>
        <p:spPr/>
        <p:txBody>
          <a:bodyPr/>
          <a:lstStyle/>
          <a:p>
            <a:fld id="{B9496208-0396-4DEE-9187-2167066D100E}" type="slidenum">
              <a:rPr lang="en-US" smtClean="0"/>
              <a:t>23</a:t>
            </a:fld>
            <a:endParaRPr lang="en-US"/>
          </a:p>
        </p:txBody>
      </p:sp>
      <p:pic>
        <p:nvPicPr>
          <p:cNvPr id="8" name="Picture 7">
            <a:extLst>
              <a:ext uri="{FF2B5EF4-FFF2-40B4-BE49-F238E27FC236}">
                <a16:creationId xmlns:a16="http://schemas.microsoft.com/office/drawing/2014/main" id="{254AD498-77B2-2A1C-C3E2-FB9D760AE0AA}"/>
              </a:ext>
            </a:extLst>
          </p:cNvPr>
          <p:cNvPicPr>
            <a:picLocks noChangeAspect="1"/>
          </p:cNvPicPr>
          <p:nvPr/>
        </p:nvPicPr>
        <p:blipFill>
          <a:blip r:embed="rId2"/>
          <a:stretch>
            <a:fillRect/>
          </a:stretch>
        </p:blipFill>
        <p:spPr>
          <a:xfrm>
            <a:off x="176576" y="6100895"/>
            <a:ext cx="1171809" cy="686922"/>
          </a:xfrm>
          <a:prstGeom prst="rect">
            <a:avLst/>
          </a:prstGeom>
        </p:spPr>
      </p:pic>
      <p:sp>
        <p:nvSpPr>
          <p:cNvPr id="2" name="TextBox 1">
            <a:extLst>
              <a:ext uri="{FF2B5EF4-FFF2-40B4-BE49-F238E27FC236}">
                <a16:creationId xmlns:a16="http://schemas.microsoft.com/office/drawing/2014/main" id="{4FC5E326-6E51-8619-BC5A-CAE1237A6E63}"/>
              </a:ext>
            </a:extLst>
          </p:cNvPr>
          <p:cNvSpPr txBox="1"/>
          <p:nvPr/>
        </p:nvSpPr>
        <p:spPr>
          <a:xfrm>
            <a:off x="478499" y="589583"/>
            <a:ext cx="11068042" cy="523220"/>
          </a:xfrm>
          <a:prstGeom prst="rect">
            <a:avLst/>
          </a:prstGeom>
          <a:noFill/>
        </p:spPr>
        <p:txBody>
          <a:bodyPr wrap="square" rtlCol="0">
            <a:spAutoFit/>
          </a:bodyPr>
          <a:lstStyle/>
          <a:p>
            <a:r>
              <a:rPr lang="en-US" sz="2800" b="1" dirty="0"/>
              <a:t>Current status</a:t>
            </a:r>
          </a:p>
        </p:txBody>
      </p:sp>
      <p:sp>
        <p:nvSpPr>
          <p:cNvPr id="6" name="TextBox 5">
            <a:extLst>
              <a:ext uri="{FF2B5EF4-FFF2-40B4-BE49-F238E27FC236}">
                <a16:creationId xmlns:a16="http://schemas.microsoft.com/office/drawing/2014/main" id="{1C232427-04DC-AD02-F0F6-FCA28902F33C}"/>
              </a:ext>
            </a:extLst>
          </p:cNvPr>
          <p:cNvSpPr txBox="1"/>
          <p:nvPr/>
        </p:nvSpPr>
        <p:spPr>
          <a:xfrm>
            <a:off x="645459" y="1425388"/>
            <a:ext cx="10421470" cy="1015663"/>
          </a:xfrm>
          <a:prstGeom prst="rect">
            <a:avLst/>
          </a:prstGeom>
          <a:noFill/>
        </p:spPr>
        <p:txBody>
          <a:bodyPr wrap="square" rtlCol="0">
            <a:spAutoFit/>
          </a:bodyPr>
          <a:lstStyle/>
          <a:p>
            <a:r>
              <a:rPr lang="en-US" sz="2000" dirty="0"/>
              <a:t>Our GitHub Action now updates static parquet files to our repository every Monday morning at 7AM, so we know where to go for the most up-to-date geometries, and they are immediately ready for analysis. </a:t>
            </a:r>
          </a:p>
        </p:txBody>
      </p:sp>
      <p:pic>
        <p:nvPicPr>
          <p:cNvPr id="6152" name="Picture 8">
            <a:extLst>
              <a:ext uri="{FF2B5EF4-FFF2-40B4-BE49-F238E27FC236}">
                <a16:creationId xmlns:a16="http://schemas.microsoft.com/office/drawing/2014/main" id="{F2069A8A-C753-A288-CB60-1D45480FF8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5494" y="2522989"/>
            <a:ext cx="9731435" cy="3495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40135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F7645-9D1D-97E8-A7CE-CC6AFB4EDB6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6F10661-3F0C-26CD-5782-E97658ABAD89}"/>
              </a:ext>
            </a:extLst>
          </p:cNvPr>
          <p:cNvSpPr>
            <a:spLocks noGrp="1"/>
          </p:cNvSpPr>
          <p:nvPr>
            <p:ph type="sldNum" sz="quarter" idx="12"/>
          </p:nvPr>
        </p:nvSpPr>
        <p:spPr/>
        <p:txBody>
          <a:bodyPr/>
          <a:lstStyle/>
          <a:p>
            <a:fld id="{B9496208-0396-4DEE-9187-2167066D100E}" type="slidenum">
              <a:rPr lang="en-US" smtClean="0"/>
              <a:t>24</a:t>
            </a:fld>
            <a:endParaRPr lang="en-US"/>
          </a:p>
        </p:txBody>
      </p:sp>
      <p:pic>
        <p:nvPicPr>
          <p:cNvPr id="8" name="Picture 7">
            <a:extLst>
              <a:ext uri="{FF2B5EF4-FFF2-40B4-BE49-F238E27FC236}">
                <a16:creationId xmlns:a16="http://schemas.microsoft.com/office/drawing/2014/main" id="{CDC1DE39-5038-59C2-12DA-6D69672D74AC}"/>
              </a:ext>
            </a:extLst>
          </p:cNvPr>
          <p:cNvPicPr>
            <a:picLocks noChangeAspect="1"/>
          </p:cNvPicPr>
          <p:nvPr/>
        </p:nvPicPr>
        <p:blipFill>
          <a:blip r:embed="rId2"/>
          <a:stretch>
            <a:fillRect/>
          </a:stretch>
        </p:blipFill>
        <p:spPr>
          <a:xfrm>
            <a:off x="176576" y="6100895"/>
            <a:ext cx="1171809" cy="686922"/>
          </a:xfrm>
          <a:prstGeom prst="rect">
            <a:avLst/>
          </a:prstGeom>
        </p:spPr>
      </p:pic>
      <p:sp>
        <p:nvSpPr>
          <p:cNvPr id="2" name="TextBox 1">
            <a:extLst>
              <a:ext uri="{FF2B5EF4-FFF2-40B4-BE49-F238E27FC236}">
                <a16:creationId xmlns:a16="http://schemas.microsoft.com/office/drawing/2014/main" id="{704CA113-698C-BBDE-7F97-97876E9CCD22}"/>
              </a:ext>
            </a:extLst>
          </p:cNvPr>
          <p:cNvSpPr txBox="1"/>
          <p:nvPr/>
        </p:nvSpPr>
        <p:spPr>
          <a:xfrm>
            <a:off x="478499" y="589583"/>
            <a:ext cx="11068042" cy="523220"/>
          </a:xfrm>
          <a:prstGeom prst="rect">
            <a:avLst/>
          </a:prstGeom>
          <a:noFill/>
        </p:spPr>
        <p:txBody>
          <a:bodyPr wrap="square" rtlCol="0">
            <a:spAutoFit/>
          </a:bodyPr>
          <a:lstStyle/>
          <a:p>
            <a:r>
              <a:rPr lang="en-US" sz="2800" b="1" dirty="0"/>
              <a:t>What can we do with this?</a:t>
            </a:r>
          </a:p>
        </p:txBody>
      </p:sp>
      <p:sp>
        <p:nvSpPr>
          <p:cNvPr id="6" name="TextBox 5">
            <a:extLst>
              <a:ext uri="{FF2B5EF4-FFF2-40B4-BE49-F238E27FC236}">
                <a16:creationId xmlns:a16="http://schemas.microsoft.com/office/drawing/2014/main" id="{770F7039-9108-8613-836D-18730F8CBB5C}"/>
              </a:ext>
            </a:extLst>
          </p:cNvPr>
          <p:cNvSpPr txBox="1"/>
          <p:nvPr/>
        </p:nvSpPr>
        <p:spPr>
          <a:xfrm>
            <a:off x="645459" y="1425388"/>
            <a:ext cx="10421470" cy="4401205"/>
          </a:xfrm>
          <a:prstGeom prst="rect">
            <a:avLst/>
          </a:prstGeom>
          <a:noFill/>
        </p:spPr>
        <p:txBody>
          <a:bodyPr wrap="square" rtlCol="0">
            <a:spAutoFit/>
          </a:bodyPr>
          <a:lstStyle/>
          <a:p>
            <a:pPr marL="342900" indent="-342900">
              <a:buFont typeface="Arial" panose="020B0604020202020204" pitchFamily="34" charset="0"/>
              <a:buChar char="•"/>
            </a:pPr>
            <a:r>
              <a:rPr lang="en-US" sz="2000" b="1" dirty="0"/>
              <a:t>Workflow overhaul: </a:t>
            </a:r>
            <a:r>
              <a:rPr lang="en-US" sz="2000" dirty="0"/>
              <a:t>Action handles repository maintenance, while users focus on querying the output on demand from a single ‘source of truth’ in a modern, standardized format (</a:t>
            </a:r>
            <a:r>
              <a:rPr lang="en-US" sz="2000" dirty="0" err="1"/>
              <a:t>GeoParquet</a:t>
            </a:r>
            <a:r>
              <a:rPr lang="en-US" sz="2000" dirty="0"/>
              <a:t>) that is known for its storage and I/O efficiency</a:t>
            </a:r>
          </a:p>
          <a:p>
            <a:pPr marL="342900" indent="-342900">
              <a:buFont typeface="Arial" panose="020B0604020202020204" pitchFamily="34" charset="0"/>
              <a:buChar char="•"/>
            </a:pPr>
            <a:r>
              <a:rPr lang="en-US" sz="2000" b="1" dirty="0"/>
              <a:t>Customization: </a:t>
            </a:r>
            <a:r>
              <a:rPr lang="en-US" sz="2000" dirty="0"/>
              <a:t>Python code handles API requests, CRS transformations and desired feature types, and produces datasets in a tabular layout that contain ID information (BBL, </a:t>
            </a:r>
            <a:r>
              <a:rPr lang="en-US" sz="2000" dirty="0" err="1"/>
              <a:t>etc</a:t>
            </a:r>
            <a:r>
              <a:rPr lang="en-US" sz="2000" dirty="0"/>
              <a:t>) to facilitate merge with other projects</a:t>
            </a:r>
          </a:p>
          <a:p>
            <a:pPr marL="342900" indent="-342900">
              <a:buFont typeface="Arial" panose="020B0604020202020204" pitchFamily="34" charset="0"/>
              <a:buChar char="•"/>
            </a:pPr>
            <a:r>
              <a:rPr lang="en-US" sz="2000" b="1" dirty="0"/>
              <a:t>Modularization: </a:t>
            </a:r>
            <a:r>
              <a:rPr lang="en-US" sz="2000" dirty="0"/>
              <a:t>Repository can be modified by regular contributors to include changes to the python code without breaking the automation stage. In its current state, we have settled for specific geometry types and projections that are most compatible with our other projects at the cost of broader-range customization.</a:t>
            </a:r>
          </a:p>
          <a:p>
            <a:pPr marL="342900" indent="-342900">
              <a:buFont typeface="Arial" panose="020B0604020202020204" pitchFamily="34" charset="0"/>
              <a:buChar char="•"/>
            </a:pPr>
            <a:r>
              <a:rPr lang="en-US" sz="2000" b="1" dirty="0"/>
              <a:t>CI/CD development: </a:t>
            </a:r>
            <a:r>
              <a:rPr lang="en-US" sz="2000" dirty="0"/>
              <a:t>future applications may include switching to state-based triggering via caching, additional fine-tuning to geospatial preprocessing, tweaking storage and compression setup to bypass </a:t>
            </a:r>
            <a:r>
              <a:rPr lang="en-US" sz="2000" dirty="0" err="1"/>
              <a:t>Github’s</a:t>
            </a:r>
            <a:r>
              <a:rPr lang="en-US" sz="2000" dirty="0"/>
              <a:t> limits, and implementing artifacts (GH feature to share data between actions) for analytical workloads</a:t>
            </a:r>
          </a:p>
        </p:txBody>
      </p:sp>
    </p:spTree>
    <p:extLst>
      <p:ext uri="{BB962C8B-B14F-4D97-AF65-F5344CB8AC3E}">
        <p14:creationId xmlns:p14="http://schemas.microsoft.com/office/powerpoint/2010/main" val="2713941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88F56-CB4D-52A5-A4FC-AF02AF6789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40C4F8-F57C-DDD7-7558-4081B58826AD}"/>
              </a:ext>
            </a:extLst>
          </p:cNvPr>
          <p:cNvSpPr>
            <a:spLocks noGrp="1"/>
          </p:cNvSpPr>
          <p:nvPr>
            <p:ph type="title"/>
          </p:nvPr>
        </p:nvSpPr>
        <p:spPr/>
        <p:txBody>
          <a:bodyPr>
            <a:normAutofit/>
          </a:bodyPr>
          <a:lstStyle/>
          <a:p>
            <a:r>
              <a:rPr lang="en-US" sz="4800" dirty="0"/>
              <a:t>                            Actions</a:t>
            </a:r>
          </a:p>
        </p:txBody>
      </p:sp>
      <p:sp>
        <p:nvSpPr>
          <p:cNvPr id="4" name="Slide Number Placeholder 3">
            <a:extLst>
              <a:ext uri="{FF2B5EF4-FFF2-40B4-BE49-F238E27FC236}">
                <a16:creationId xmlns:a16="http://schemas.microsoft.com/office/drawing/2014/main" id="{3E18716F-61B1-FC8B-6632-AEF6C6A5440D}"/>
              </a:ext>
            </a:extLst>
          </p:cNvPr>
          <p:cNvSpPr>
            <a:spLocks noGrp="1"/>
          </p:cNvSpPr>
          <p:nvPr>
            <p:ph type="sldNum" sz="quarter" idx="12"/>
          </p:nvPr>
        </p:nvSpPr>
        <p:spPr/>
        <p:txBody>
          <a:bodyPr/>
          <a:lstStyle/>
          <a:p>
            <a:fld id="{B9496208-0396-4DEE-9187-2167066D100E}" type="slidenum">
              <a:rPr lang="en-US" smtClean="0"/>
              <a:t>25</a:t>
            </a:fld>
            <a:endParaRPr lang="en-US"/>
          </a:p>
        </p:txBody>
      </p:sp>
      <p:pic>
        <p:nvPicPr>
          <p:cNvPr id="6" name="Picture 5" descr="Github">
            <a:extLst>
              <a:ext uri="{FF2B5EF4-FFF2-40B4-BE49-F238E27FC236}">
                <a16:creationId xmlns:a16="http://schemas.microsoft.com/office/drawing/2014/main" id="{A09F988B-4C47-D762-D8D7-1399E0FFEC4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345" t="28626" r="5430" b="32374"/>
          <a:stretch>
            <a:fillRect/>
          </a:stretch>
        </p:blipFill>
        <p:spPr bwMode="auto">
          <a:xfrm>
            <a:off x="1746551" y="3761410"/>
            <a:ext cx="2266308" cy="726656"/>
          </a:xfrm>
          <a:prstGeom prst="rect">
            <a:avLst/>
          </a:prstGeom>
          <a:noFill/>
          <a:extLst>
            <a:ext uri="{909E8E84-426E-40DD-AFC4-6F175D3DCCD1}">
              <a14:hiddenFill xmlns:a14="http://schemas.microsoft.com/office/drawing/2010/main">
                <a:solidFill>
                  <a:srgbClr val="FFFFFF"/>
                </a:solidFill>
              </a14:hiddenFill>
            </a:ext>
          </a:extLst>
        </p:spPr>
      </p:pic>
      <p:sp>
        <p:nvSpPr>
          <p:cNvPr id="7" name="Heart 6">
            <a:extLst>
              <a:ext uri="{FF2B5EF4-FFF2-40B4-BE49-F238E27FC236}">
                <a16:creationId xmlns:a16="http://schemas.microsoft.com/office/drawing/2014/main" id="{6A45D1C8-74B4-4035-F095-B0693CD2E467}"/>
              </a:ext>
            </a:extLst>
          </p:cNvPr>
          <p:cNvSpPr/>
          <p:nvPr/>
        </p:nvSpPr>
        <p:spPr>
          <a:xfrm>
            <a:off x="844550" y="3791777"/>
            <a:ext cx="759759" cy="665923"/>
          </a:xfrm>
          <a:prstGeom prst="hear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38172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47458-1681-5BA2-D930-DC58E5DB8F6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3FBB289-43AC-735D-07C2-7FB4B5E29917}"/>
              </a:ext>
            </a:extLst>
          </p:cNvPr>
          <p:cNvSpPr>
            <a:spLocks noGrp="1"/>
          </p:cNvSpPr>
          <p:nvPr>
            <p:ph type="sldNum" sz="quarter" idx="12"/>
          </p:nvPr>
        </p:nvSpPr>
        <p:spPr/>
        <p:txBody>
          <a:bodyPr/>
          <a:lstStyle/>
          <a:p>
            <a:fld id="{B9496208-0396-4DEE-9187-2167066D100E}" type="slidenum">
              <a:rPr lang="en-US" smtClean="0"/>
              <a:t>26</a:t>
            </a:fld>
            <a:endParaRPr lang="en-US"/>
          </a:p>
        </p:txBody>
      </p:sp>
      <p:pic>
        <p:nvPicPr>
          <p:cNvPr id="8" name="Picture 7">
            <a:extLst>
              <a:ext uri="{FF2B5EF4-FFF2-40B4-BE49-F238E27FC236}">
                <a16:creationId xmlns:a16="http://schemas.microsoft.com/office/drawing/2014/main" id="{59682C30-BC17-2295-945A-2397BBFD1669}"/>
              </a:ext>
            </a:extLst>
          </p:cNvPr>
          <p:cNvPicPr>
            <a:picLocks noChangeAspect="1"/>
          </p:cNvPicPr>
          <p:nvPr/>
        </p:nvPicPr>
        <p:blipFill>
          <a:blip r:embed="rId2"/>
          <a:stretch>
            <a:fillRect/>
          </a:stretch>
        </p:blipFill>
        <p:spPr>
          <a:xfrm>
            <a:off x="176576" y="6100895"/>
            <a:ext cx="1171809" cy="686922"/>
          </a:xfrm>
          <a:prstGeom prst="rect">
            <a:avLst/>
          </a:prstGeom>
        </p:spPr>
      </p:pic>
      <p:sp>
        <p:nvSpPr>
          <p:cNvPr id="2" name="TextBox 1">
            <a:extLst>
              <a:ext uri="{FF2B5EF4-FFF2-40B4-BE49-F238E27FC236}">
                <a16:creationId xmlns:a16="http://schemas.microsoft.com/office/drawing/2014/main" id="{DD4C4F58-7D05-EAEE-2D3B-7941A437B12C}"/>
              </a:ext>
            </a:extLst>
          </p:cNvPr>
          <p:cNvSpPr txBox="1"/>
          <p:nvPr/>
        </p:nvSpPr>
        <p:spPr>
          <a:xfrm>
            <a:off x="478499" y="589583"/>
            <a:ext cx="11068042" cy="523220"/>
          </a:xfrm>
          <a:prstGeom prst="rect">
            <a:avLst/>
          </a:prstGeom>
          <a:noFill/>
        </p:spPr>
        <p:txBody>
          <a:bodyPr wrap="square" rtlCol="0">
            <a:spAutoFit/>
          </a:bodyPr>
          <a:lstStyle/>
          <a:p>
            <a:r>
              <a:rPr lang="en-US" sz="2800" b="1" dirty="0"/>
              <a:t>Other use cases </a:t>
            </a:r>
          </a:p>
        </p:txBody>
      </p:sp>
      <p:sp>
        <p:nvSpPr>
          <p:cNvPr id="7" name="TextBox 6">
            <a:extLst>
              <a:ext uri="{FF2B5EF4-FFF2-40B4-BE49-F238E27FC236}">
                <a16:creationId xmlns:a16="http://schemas.microsoft.com/office/drawing/2014/main" id="{0C33743D-2BB4-F0BF-FEFD-AA9C3300802C}"/>
              </a:ext>
            </a:extLst>
          </p:cNvPr>
          <p:cNvSpPr txBox="1"/>
          <p:nvPr/>
        </p:nvSpPr>
        <p:spPr>
          <a:xfrm>
            <a:off x="645459" y="1425388"/>
            <a:ext cx="4121523" cy="4401205"/>
          </a:xfrm>
          <a:prstGeom prst="rect">
            <a:avLst/>
          </a:prstGeom>
          <a:noFill/>
        </p:spPr>
        <p:txBody>
          <a:bodyPr wrap="square" rtlCol="0">
            <a:spAutoFit/>
          </a:bodyPr>
          <a:lstStyle/>
          <a:p>
            <a:r>
              <a:rPr lang="en-US" sz="2000" b="1" dirty="0"/>
              <a:t>Sky is the limit!</a:t>
            </a:r>
          </a:p>
          <a:p>
            <a:endParaRPr lang="en-US" sz="2000" b="1" dirty="0"/>
          </a:p>
          <a:p>
            <a:r>
              <a:rPr lang="en-US" sz="2000" b="1" dirty="0"/>
              <a:t>Testing: </a:t>
            </a:r>
            <a:r>
              <a:rPr lang="en-US" sz="2000" dirty="0"/>
              <a:t>We currently use actions to test any to our internal R package </a:t>
            </a:r>
            <a:r>
              <a:rPr lang="en-US" sz="2000" b="1" dirty="0" err="1"/>
              <a:t>assessNYC</a:t>
            </a:r>
            <a:r>
              <a:rPr lang="en-US" sz="2000" b="1" dirty="0"/>
              <a:t>. </a:t>
            </a:r>
            <a:r>
              <a:rPr lang="en-US" sz="2000" dirty="0"/>
              <a:t>We have built a test suite to ensure stability of the package as we change structure/functionality. </a:t>
            </a:r>
          </a:p>
          <a:p>
            <a:endParaRPr lang="en-US" sz="2000" b="1" dirty="0"/>
          </a:p>
          <a:p>
            <a:r>
              <a:rPr lang="en-US" sz="2000" dirty="0"/>
              <a:t>To do this, we run checks on:</a:t>
            </a:r>
          </a:p>
          <a:p>
            <a:pPr marL="342900" indent="-342900">
              <a:buFont typeface="Arial" panose="020B0604020202020204" pitchFamily="34" charset="0"/>
              <a:buChar char="•"/>
            </a:pPr>
            <a:r>
              <a:rPr lang="en-US" sz="2000" dirty="0"/>
              <a:t>commits to open pull requests</a:t>
            </a:r>
          </a:p>
          <a:p>
            <a:pPr marL="342900" indent="-342900">
              <a:buFont typeface="Arial" panose="020B0604020202020204" pitchFamily="34" charset="0"/>
              <a:buChar char="•"/>
            </a:pPr>
            <a:r>
              <a:rPr lang="en-US" sz="2000" dirty="0"/>
              <a:t>all merges from other branches to main (can only push to main if all tests pass)</a:t>
            </a:r>
          </a:p>
        </p:txBody>
      </p:sp>
      <p:pic>
        <p:nvPicPr>
          <p:cNvPr id="12" name="Picture 11">
            <a:extLst>
              <a:ext uri="{FF2B5EF4-FFF2-40B4-BE49-F238E27FC236}">
                <a16:creationId xmlns:a16="http://schemas.microsoft.com/office/drawing/2014/main" id="{F2A5318A-BFD1-B216-A146-F4977E997681}"/>
              </a:ext>
            </a:extLst>
          </p:cNvPr>
          <p:cNvPicPr>
            <a:picLocks noChangeAspect="1"/>
          </p:cNvPicPr>
          <p:nvPr/>
        </p:nvPicPr>
        <p:blipFill>
          <a:blip r:embed="rId3"/>
          <a:stretch>
            <a:fillRect/>
          </a:stretch>
        </p:blipFill>
        <p:spPr>
          <a:xfrm>
            <a:off x="4952094" y="1163169"/>
            <a:ext cx="6761407" cy="4040841"/>
          </a:xfrm>
          <a:prstGeom prst="rect">
            <a:avLst/>
          </a:prstGeom>
        </p:spPr>
      </p:pic>
    </p:spTree>
    <p:extLst>
      <p:ext uri="{BB962C8B-B14F-4D97-AF65-F5344CB8AC3E}">
        <p14:creationId xmlns:p14="http://schemas.microsoft.com/office/powerpoint/2010/main" val="39152525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57842-C1E7-8D5E-AC25-C71D819087E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D6F049E-A0D2-44E6-CB85-1FF6FC4108F2}"/>
              </a:ext>
            </a:extLst>
          </p:cNvPr>
          <p:cNvSpPr>
            <a:spLocks noGrp="1"/>
          </p:cNvSpPr>
          <p:nvPr>
            <p:ph type="sldNum" sz="quarter" idx="12"/>
          </p:nvPr>
        </p:nvSpPr>
        <p:spPr/>
        <p:txBody>
          <a:bodyPr/>
          <a:lstStyle/>
          <a:p>
            <a:fld id="{B9496208-0396-4DEE-9187-2167066D100E}" type="slidenum">
              <a:rPr lang="en-US" smtClean="0"/>
              <a:t>27</a:t>
            </a:fld>
            <a:endParaRPr lang="en-US"/>
          </a:p>
        </p:txBody>
      </p:sp>
      <p:pic>
        <p:nvPicPr>
          <p:cNvPr id="8" name="Picture 7">
            <a:extLst>
              <a:ext uri="{FF2B5EF4-FFF2-40B4-BE49-F238E27FC236}">
                <a16:creationId xmlns:a16="http://schemas.microsoft.com/office/drawing/2014/main" id="{FA448410-6E80-3DF4-C6EE-52FEDCE37E91}"/>
              </a:ext>
            </a:extLst>
          </p:cNvPr>
          <p:cNvPicPr>
            <a:picLocks noChangeAspect="1"/>
          </p:cNvPicPr>
          <p:nvPr/>
        </p:nvPicPr>
        <p:blipFill>
          <a:blip r:embed="rId2"/>
          <a:stretch>
            <a:fillRect/>
          </a:stretch>
        </p:blipFill>
        <p:spPr>
          <a:xfrm>
            <a:off x="176576" y="6100895"/>
            <a:ext cx="1171809" cy="686922"/>
          </a:xfrm>
          <a:prstGeom prst="rect">
            <a:avLst/>
          </a:prstGeom>
        </p:spPr>
      </p:pic>
      <p:sp>
        <p:nvSpPr>
          <p:cNvPr id="2" name="TextBox 1">
            <a:extLst>
              <a:ext uri="{FF2B5EF4-FFF2-40B4-BE49-F238E27FC236}">
                <a16:creationId xmlns:a16="http://schemas.microsoft.com/office/drawing/2014/main" id="{DF37EE44-117E-949B-EDB8-4C0F13FF4232}"/>
              </a:ext>
            </a:extLst>
          </p:cNvPr>
          <p:cNvSpPr txBox="1"/>
          <p:nvPr/>
        </p:nvSpPr>
        <p:spPr>
          <a:xfrm>
            <a:off x="478499" y="589583"/>
            <a:ext cx="11068042" cy="523220"/>
          </a:xfrm>
          <a:prstGeom prst="rect">
            <a:avLst/>
          </a:prstGeom>
          <a:noFill/>
        </p:spPr>
        <p:txBody>
          <a:bodyPr wrap="square" rtlCol="0">
            <a:spAutoFit/>
          </a:bodyPr>
          <a:lstStyle/>
          <a:p>
            <a:r>
              <a:rPr lang="en-US" sz="2800" b="1" dirty="0"/>
              <a:t>What we learned from experimenting with GitHub Actions</a:t>
            </a:r>
          </a:p>
        </p:txBody>
      </p:sp>
      <p:sp>
        <p:nvSpPr>
          <p:cNvPr id="6" name="TextBox 5">
            <a:extLst>
              <a:ext uri="{FF2B5EF4-FFF2-40B4-BE49-F238E27FC236}">
                <a16:creationId xmlns:a16="http://schemas.microsoft.com/office/drawing/2014/main" id="{503040F5-588C-76B8-32E5-4F81B37AEF3C}"/>
              </a:ext>
            </a:extLst>
          </p:cNvPr>
          <p:cNvSpPr txBox="1"/>
          <p:nvPr/>
        </p:nvSpPr>
        <p:spPr>
          <a:xfrm>
            <a:off x="645459" y="1425388"/>
            <a:ext cx="10421470" cy="4401205"/>
          </a:xfrm>
          <a:prstGeom prst="rect">
            <a:avLst/>
          </a:prstGeom>
          <a:noFill/>
        </p:spPr>
        <p:txBody>
          <a:bodyPr wrap="square" rtlCol="0">
            <a:spAutoFit/>
          </a:bodyPr>
          <a:lstStyle/>
          <a:p>
            <a:pPr marL="342900" indent="-342900">
              <a:buFont typeface="Arial" panose="020B0604020202020204" pitchFamily="34" charset="0"/>
              <a:buChar char="•"/>
            </a:pPr>
            <a:r>
              <a:rPr lang="en-US" sz="2000" b="1" dirty="0"/>
              <a:t>Start local</a:t>
            </a:r>
            <a:r>
              <a:rPr lang="en-US" sz="2000" dirty="0"/>
              <a:t>: Before trying to implement an action, make sure that you can deploy something locally first. </a:t>
            </a:r>
          </a:p>
          <a:p>
            <a:pPr marL="800100" lvl="1" indent="-342900">
              <a:buFont typeface="Arial" panose="020B0604020202020204" pitchFamily="34" charset="0"/>
              <a:buChar char="•"/>
            </a:pPr>
            <a:r>
              <a:rPr lang="en-US" sz="2000" dirty="0"/>
              <a:t>Start by thinking about a small task that you can figure out a way to execute with one or few lines of code from the command line. </a:t>
            </a:r>
          </a:p>
          <a:p>
            <a:pPr marL="800100" lvl="1" indent="-342900">
              <a:buFont typeface="Arial" panose="020B0604020202020204" pitchFamily="34" charset="0"/>
              <a:buChar char="•"/>
            </a:pPr>
            <a:r>
              <a:rPr lang="en-US" sz="2000" dirty="0"/>
              <a:t>Create an MVP and test it locally by making sure that you can run it from the command line and the outputs are what you expect</a:t>
            </a:r>
          </a:p>
          <a:p>
            <a:pPr marL="342900" indent="-342900">
              <a:buFont typeface="Arial" panose="020B0604020202020204" pitchFamily="34" charset="0"/>
              <a:buChar char="•"/>
            </a:pPr>
            <a:r>
              <a:rPr lang="en-US" sz="2000" b="1" dirty="0"/>
              <a:t>Use virtual environments (</a:t>
            </a:r>
            <a:r>
              <a:rPr lang="en-US" sz="2000" b="1" dirty="0" err="1"/>
              <a:t>uv</a:t>
            </a:r>
            <a:r>
              <a:rPr lang="en-US" sz="2000" b="1" dirty="0"/>
              <a:t>)</a:t>
            </a:r>
            <a:r>
              <a:rPr lang="en-US" sz="2000" dirty="0"/>
              <a:t>: This is a great excuse to get into a good practice of using virtual environments in order to replicate your work on other virtual machines that much faster.</a:t>
            </a:r>
          </a:p>
          <a:p>
            <a:pPr marL="800100" lvl="1" indent="-342900">
              <a:buFont typeface="Arial" panose="020B0604020202020204" pitchFamily="34" charset="0"/>
              <a:buChar char="•"/>
            </a:pPr>
            <a:r>
              <a:rPr lang="en-US" sz="2000" dirty="0"/>
              <a:t>By already having had a </a:t>
            </a:r>
            <a:r>
              <a:rPr lang="en-US" sz="2000" dirty="0" err="1"/>
              <a:t>venv</a:t>
            </a:r>
            <a:r>
              <a:rPr lang="en-US" sz="2000" dirty="0"/>
              <a:t> set up with this project, it took only 1 more action step to ensure the virtual machine would install all the packages we needed to execute our script</a:t>
            </a:r>
          </a:p>
          <a:p>
            <a:pPr marL="342900" indent="-342900">
              <a:buFont typeface="Arial" panose="020B0604020202020204" pitchFamily="34" charset="0"/>
              <a:buChar char="•"/>
            </a:pPr>
            <a:r>
              <a:rPr lang="en-US" sz="2000" b="1" dirty="0"/>
              <a:t>Dispatch on command first</a:t>
            </a:r>
            <a:r>
              <a:rPr lang="en-US" sz="2000" dirty="0"/>
              <a:t>: No need to test if the scheduler works before you know your .</a:t>
            </a:r>
            <a:r>
              <a:rPr lang="en-US" sz="2000" dirty="0" err="1"/>
              <a:t>yml</a:t>
            </a:r>
            <a:r>
              <a:rPr lang="en-US" sz="2000" dirty="0"/>
              <a:t> is set up correctly. Use an on command trigger first and then expand to other triggers.</a:t>
            </a:r>
          </a:p>
        </p:txBody>
      </p:sp>
    </p:spTree>
    <p:extLst>
      <p:ext uri="{BB962C8B-B14F-4D97-AF65-F5344CB8AC3E}">
        <p14:creationId xmlns:p14="http://schemas.microsoft.com/office/powerpoint/2010/main" val="36615765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BEEFB-93F2-FABB-457B-6FFC9A7EED5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C42B8C8-5A5C-5464-8504-61468512F6A6}"/>
              </a:ext>
            </a:extLst>
          </p:cNvPr>
          <p:cNvSpPr>
            <a:spLocks noGrp="1"/>
          </p:cNvSpPr>
          <p:nvPr>
            <p:ph type="sldNum" sz="quarter" idx="12"/>
          </p:nvPr>
        </p:nvSpPr>
        <p:spPr/>
        <p:txBody>
          <a:bodyPr/>
          <a:lstStyle/>
          <a:p>
            <a:fld id="{B9496208-0396-4DEE-9187-2167066D100E}" type="slidenum">
              <a:rPr lang="en-US" smtClean="0"/>
              <a:t>28</a:t>
            </a:fld>
            <a:endParaRPr lang="en-US"/>
          </a:p>
        </p:txBody>
      </p:sp>
      <p:pic>
        <p:nvPicPr>
          <p:cNvPr id="8" name="Picture 7">
            <a:extLst>
              <a:ext uri="{FF2B5EF4-FFF2-40B4-BE49-F238E27FC236}">
                <a16:creationId xmlns:a16="http://schemas.microsoft.com/office/drawing/2014/main" id="{FF510EFC-79D8-B294-9FF1-51B65B2B52EA}"/>
              </a:ext>
            </a:extLst>
          </p:cNvPr>
          <p:cNvPicPr>
            <a:picLocks noChangeAspect="1"/>
          </p:cNvPicPr>
          <p:nvPr/>
        </p:nvPicPr>
        <p:blipFill>
          <a:blip r:embed="rId2"/>
          <a:stretch>
            <a:fillRect/>
          </a:stretch>
        </p:blipFill>
        <p:spPr>
          <a:xfrm>
            <a:off x="176576" y="6100895"/>
            <a:ext cx="1171809" cy="686922"/>
          </a:xfrm>
          <a:prstGeom prst="rect">
            <a:avLst/>
          </a:prstGeom>
        </p:spPr>
      </p:pic>
      <p:sp>
        <p:nvSpPr>
          <p:cNvPr id="2" name="TextBox 1">
            <a:extLst>
              <a:ext uri="{FF2B5EF4-FFF2-40B4-BE49-F238E27FC236}">
                <a16:creationId xmlns:a16="http://schemas.microsoft.com/office/drawing/2014/main" id="{C0898ED2-E15C-F5F1-705A-84C599ADC967}"/>
              </a:ext>
            </a:extLst>
          </p:cNvPr>
          <p:cNvSpPr txBox="1"/>
          <p:nvPr/>
        </p:nvSpPr>
        <p:spPr>
          <a:xfrm>
            <a:off x="478499" y="589583"/>
            <a:ext cx="11068042" cy="523220"/>
          </a:xfrm>
          <a:prstGeom prst="rect">
            <a:avLst/>
          </a:prstGeom>
          <a:noFill/>
        </p:spPr>
        <p:txBody>
          <a:bodyPr wrap="square" rtlCol="0">
            <a:spAutoFit/>
          </a:bodyPr>
          <a:lstStyle/>
          <a:p>
            <a:r>
              <a:rPr lang="en-US" sz="2800" b="1" dirty="0"/>
              <a:t>Getting started</a:t>
            </a:r>
          </a:p>
        </p:txBody>
      </p:sp>
      <p:sp>
        <p:nvSpPr>
          <p:cNvPr id="6" name="TextBox 5">
            <a:extLst>
              <a:ext uri="{FF2B5EF4-FFF2-40B4-BE49-F238E27FC236}">
                <a16:creationId xmlns:a16="http://schemas.microsoft.com/office/drawing/2014/main" id="{3F657E80-31E6-2E6E-E19B-33006C7A6D18}"/>
              </a:ext>
            </a:extLst>
          </p:cNvPr>
          <p:cNvSpPr txBox="1"/>
          <p:nvPr/>
        </p:nvSpPr>
        <p:spPr>
          <a:xfrm>
            <a:off x="645459" y="1425388"/>
            <a:ext cx="5237629" cy="2554545"/>
          </a:xfrm>
          <a:prstGeom prst="rect">
            <a:avLst/>
          </a:prstGeom>
          <a:noFill/>
        </p:spPr>
        <p:txBody>
          <a:bodyPr wrap="square" rtlCol="0">
            <a:spAutoFit/>
          </a:bodyPr>
          <a:lstStyle/>
          <a:p>
            <a:pPr marL="342900" indent="-342900">
              <a:buFont typeface="Arial" panose="020B0604020202020204" pitchFamily="34" charset="0"/>
              <a:buChar char="•"/>
            </a:pPr>
            <a:r>
              <a:rPr lang="en-US" sz="2000" dirty="0"/>
              <a:t>As always, GitHub docs are accessible and thorough: </a:t>
            </a:r>
            <a:r>
              <a:rPr lang="en-US" sz="2000" dirty="0">
                <a:hlinkClick r:id="rId3"/>
              </a:rPr>
              <a:t>https://docs.github.com/en/actions</a:t>
            </a:r>
            <a:endParaRPr lang="en-US" sz="2000" dirty="0"/>
          </a:p>
          <a:p>
            <a:pPr marL="342900" indent="-342900">
              <a:buFont typeface="Arial" panose="020B0604020202020204" pitchFamily="34" charset="0"/>
              <a:buChar char="•"/>
            </a:pPr>
            <a:r>
              <a:rPr lang="en-US" sz="2000" dirty="0"/>
              <a:t>Feel free to poke around on this copy of our repo to see the example in action: </a:t>
            </a:r>
            <a:r>
              <a:rPr lang="en-US" sz="2000" dirty="0">
                <a:hlinkClick r:id="rId4"/>
              </a:rPr>
              <a:t>https://github.com/nycdepartmentoffinance/github_actions_demo</a:t>
            </a:r>
            <a:endParaRPr lang="en-US" sz="2000" dirty="0"/>
          </a:p>
          <a:p>
            <a:pPr marL="342900" indent="-342900">
              <a:buFont typeface="Arial" panose="020B0604020202020204" pitchFamily="34" charset="0"/>
              <a:buChar char="•"/>
            </a:pPr>
            <a:endParaRPr lang="en-US" sz="2000" dirty="0"/>
          </a:p>
        </p:txBody>
      </p:sp>
      <p:pic>
        <p:nvPicPr>
          <p:cNvPr id="5" name="Picture 4">
            <a:extLst>
              <a:ext uri="{FF2B5EF4-FFF2-40B4-BE49-F238E27FC236}">
                <a16:creationId xmlns:a16="http://schemas.microsoft.com/office/drawing/2014/main" id="{939A3934-9CAE-4209-40CE-C5ED28E378C3}"/>
              </a:ext>
            </a:extLst>
          </p:cNvPr>
          <p:cNvPicPr>
            <a:picLocks noChangeAspect="1"/>
          </p:cNvPicPr>
          <p:nvPr/>
        </p:nvPicPr>
        <p:blipFill>
          <a:blip r:embed="rId5"/>
          <a:stretch>
            <a:fillRect/>
          </a:stretch>
        </p:blipFill>
        <p:spPr>
          <a:xfrm>
            <a:off x="6401936" y="1031354"/>
            <a:ext cx="4041039" cy="5069541"/>
          </a:xfrm>
          <a:prstGeom prst="rect">
            <a:avLst/>
          </a:prstGeom>
        </p:spPr>
      </p:pic>
    </p:spTree>
    <p:extLst>
      <p:ext uri="{BB962C8B-B14F-4D97-AF65-F5344CB8AC3E}">
        <p14:creationId xmlns:p14="http://schemas.microsoft.com/office/powerpoint/2010/main" val="20891699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CE71C-2F8C-7FE3-901B-F58BE038387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93CC28-E2C0-2316-6860-18D4F2043D66}"/>
              </a:ext>
            </a:extLst>
          </p:cNvPr>
          <p:cNvSpPr>
            <a:spLocks noGrp="1"/>
          </p:cNvSpPr>
          <p:nvPr>
            <p:ph type="sldNum" sz="quarter" idx="12"/>
          </p:nvPr>
        </p:nvSpPr>
        <p:spPr/>
        <p:txBody>
          <a:bodyPr/>
          <a:lstStyle/>
          <a:p>
            <a:fld id="{B9496208-0396-4DEE-9187-2167066D100E}" type="slidenum">
              <a:rPr lang="en-US" smtClean="0"/>
              <a:t>29</a:t>
            </a:fld>
            <a:endParaRPr lang="en-US"/>
          </a:p>
        </p:txBody>
      </p:sp>
      <p:sp>
        <p:nvSpPr>
          <p:cNvPr id="5" name="Title 4">
            <a:extLst>
              <a:ext uri="{FF2B5EF4-FFF2-40B4-BE49-F238E27FC236}">
                <a16:creationId xmlns:a16="http://schemas.microsoft.com/office/drawing/2014/main" id="{BB43CF42-5379-0C2E-5C6D-D7862031B636}"/>
              </a:ext>
            </a:extLst>
          </p:cNvPr>
          <p:cNvSpPr>
            <a:spLocks noGrp="1"/>
          </p:cNvSpPr>
          <p:nvPr>
            <p:ph type="title"/>
          </p:nvPr>
        </p:nvSpPr>
        <p:spPr>
          <a:xfrm>
            <a:off x="831850" y="1709738"/>
            <a:ext cx="10515600" cy="806439"/>
          </a:xfrm>
        </p:spPr>
        <p:txBody>
          <a:bodyPr>
            <a:normAutofit/>
          </a:bodyPr>
          <a:lstStyle/>
          <a:p>
            <a:r>
              <a:rPr lang="en-US" sz="4400" dirty="0"/>
              <a:t>Questions?</a:t>
            </a:r>
          </a:p>
        </p:txBody>
      </p:sp>
      <p:sp>
        <p:nvSpPr>
          <p:cNvPr id="6" name="Subtitle 2">
            <a:extLst>
              <a:ext uri="{FF2B5EF4-FFF2-40B4-BE49-F238E27FC236}">
                <a16:creationId xmlns:a16="http://schemas.microsoft.com/office/drawing/2014/main" id="{F723F3CF-60B4-6BD4-99DC-060F6C9D747E}"/>
              </a:ext>
            </a:extLst>
          </p:cNvPr>
          <p:cNvSpPr txBox="1">
            <a:spLocks/>
          </p:cNvSpPr>
          <p:nvPr/>
        </p:nvSpPr>
        <p:spPr>
          <a:xfrm>
            <a:off x="1383095" y="4291900"/>
            <a:ext cx="4269581" cy="1987407"/>
          </a:xfrm>
          <a:prstGeom prst="rect">
            <a:avLst/>
          </a:prstGeom>
        </p:spPr>
        <p:txBody>
          <a:bodyPr vert="horz" lIns="91440" tIns="45720" rIns="91440" bIns="45720" rtlCol="0">
            <a:normAutofit fontScale="85000" lnSpcReduction="20000"/>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ctr"/>
            <a:r>
              <a:rPr lang="en-US" b="1" dirty="0">
                <a:solidFill>
                  <a:schemeClr val="tx1"/>
                </a:solidFill>
                <a:latin typeface="HelveticaNeueforSAS" panose="020B0604020202020204" pitchFamily="34" charset="0"/>
              </a:rPr>
              <a:t>Claire Boyd</a:t>
            </a:r>
          </a:p>
          <a:p>
            <a:pPr algn="ctr"/>
            <a:r>
              <a:rPr lang="en-US" i="1" dirty="0">
                <a:solidFill>
                  <a:schemeClr val="tx1"/>
                </a:solidFill>
                <a:latin typeface="HelveticaNeueforSAS" panose="020B0604020202020204" pitchFamily="34" charset="0"/>
              </a:rPr>
              <a:t>Data Scientist</a:t>
            </a:r>
            <a:endParaRPr lang="en-US" dirty="0">
              <a:solidFill>
                <a:schemeClr val="tx1"/>
              </a:solidFill>
              <a:latin typeface="HelveticaNeueforSAS" panose="020B0604020202020204" pitchFamily="34" charset="0"/>
            </a:endParaRPr>
          </a:p>
          <a:p>
            <a:pPr algn="ctr"/>
            <a:r>
              <a:rPr lang="en-US" dirty="0">
                <a:solidFill>
                  <a:srgbClr val="000000"/>
                </a:solidFill>
                <a:latin typeface="Aptos" panose="020B0004020202020204" pitchFamily="34" charset="0"/>
              </a:rPr>
              <a:t>NYC Department of Finance, Property Modeling &amp; Valuation</a:t>
            </a:r>
          </a:p>
          <a:p>
            <a:pPr algn="ctr"/>
            <a:r>
              <a:rPr lang="en-US" dirty="0">
                <a:solidFill>
                  <a:srgbClr val="000000"/>
                </a:solidFill>
                <a:latin typeface="Aptos" panose="020B0004020202020204" pitchFamily="34" charset="0"/>
                <a:hlinkClick r:id="rId2"/>
              </a:rPr>
              <a:t>boydclaire@finance.nyc.gov</a:t>
            </a:r>
            <a:endParaRPr lang="en-US" dirty="0">
              <a:solidFill>
                <a:srgbClr val="000000"/>
              </a:solidFill>
              <a:latin typeface="Aptos" panose="020B0004020202020204" pitchFamily="34" charset="0"/>
            </a:endParaRPr>
          </a:p>
          <a:p>
            <a:pPr algn="ctr"/>
            <a:r>
              <a:rPr lang="en-US" dirty="0" err="1">
                <a:solidFill>
                  <a:srgbClr val="000000"/>
                </a:solidFill>
                <a:latin typeface="Aptos" panose="020B0004020202020204" pitchFamily="34" charset="0"/>
              </a:rPr>
              <a:t>claireboyd</a:t>
            </a:r>
            <a:r>
              <a:rPr lang="en-US" dirty="0">
                <a:solidFill>
                  <a:srgbClr val="000000"/>
                </a:solidFill>
                <a:latin typeface="Aptos" panose="020B0004020202020204" pitchFamily="34" charset="0"/>
              </a:rPr>
              <a:t> </a:t>
            </a:r>
          </a:p>
        </p:txBody>
      </p:sp>
      <p:sp>
        <p:nvSpPr>
          <p:cNvPr id="7" name="Subtitle 2">
            <a:extLst>
              <a:ext uri="{FF2B5EF4-FFF2-40B4-BE49-F238E27FC236}">
                <a16:creationId xmlns:a16="http://schemas.microsoft.com/office/drawing/2014/main" id="{95EC5914-87D3-4D95-4799-4A69FD346F2F}"/>
              </a:ext>
            </a:extLst>
          </p:cNvPr>
          <p:cNvSpPr txBox="1">
            <a:spLocks/>
          </p:cNvSpPr>
          <p:nvPr/>
        </p:nvSpPr>
        <p:spPr>
          <a:xfrm>
            <a:off x="6114639" y="4291901"/>
            <a:ext cx="4965366" cy="1987406"/>
          </a:xfrm>
          <a:prstGeom prst="rect">
            <a:avLst/>
          </a:prstGeom>
        </p:spPr>
        <p:txBody>
          <a:bodyPr vert="horz" lIns="91440" tIns="45720" rIns="91440" bIns="45720" rtlCol="0">
            <a:normAutofit fontScale="8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latin typeface="HelveticaNeueforSAS" panose="020B0604020202020204" pitchFamily="34" charset="0"/>
              </a:rPr>
              <a:t>Pablo Hernandez</a:t>
            </a:r>
          </a:p>
          <a:p>
            <a:r>
              <a:rPr lang="en-US" i="1" dirty="0">
                <a:latin typeface="HelveticaNeueforSAS" panose="020B0604020202020204" pitchFamily="34" charset="0"/>
              </a:rPr>
              <a:t>Data Science Intern, UChicago Student</a:t>
            </a:r>
            <a:endParaRPr lang="en-US" dirty="0">
              <a:latin typeface="HelveticaNeueforSAS" panose="020B0604020202020204" pitchFamily="34" charset="0"/>
            </a:endParaRPr>
          </a:p>
          <a:p>
            <a:r>
              <a:rPr lang="en-US" dirty="0">
                <a:solidFill>
                  <a:srgbClr val="000000"/>
                </a:solidFill>
                <a:latin typeface="Aptos" panose="020B0004020202020204" pitchFamily="34" charset="0"/>
              </a:rPr>
              <a:t>NYC Department of Finance, Property Modeling &amp; Valuation</a:t>
            </a:r>
          </a:p>
          <a:p>
            <a:r>
              <a:rPr lang="en-US" dirty="0">
                <a:hlinkClick r:id="rId3" tooltip="mailto:hernandezpablo1995@gmail.com"/>
              </a:rPr>
              <a:t>hernandezpablo1995@gmail.com</a:t>
            </a:r>
            <a:endParaRPr lang="en-US" dirty="0"/>
          </a:p>
          <a:p>
            <a:r>
              <a:rPr lang="en-US" dirty="0">
                <a:solidFill>
                  <a:srgbClr val="000000"/>
                </a:solidFill>
                <a:latin typeface="Aptos" panose="020B0004020202020204" pitchFamily="34" charset="0"/>
              </a:rPr>
              <a:t>pabloher95</a:t>
            </a:r>
          </a:p>
        </p:txBody>
      </p:sp>
      <p:pic>
        <p:nvPicPr>
          <p:cNvPr id="8" name="Picture 2">
            <a:hlinkClick r:id="rId4"/>
            <a:extLst>
              <a:ext uri="{FF2B5EF4-FFF2-40B4-BE49-F238E27FC236}">
                <a16:creationId xmlns:a16="http://schemas.microsoft.com/office/drawing/2014/main" id="{2968E098-2F8B-5643-6832-7D0B5108CF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4503" y="5919426"/>
            <a:ext cx="266700" cy="1524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hlinkClick r:id="rId4"/>
            <a:extLst>
              <a:ext uri="{FF2B5EF4-FFF2-40B4-BE49-F238E27FC236}">
                <a16:creationId xmlns:a16="http://schemas.microsoft.com/office/drawing/2014/main" id="{032E11FE-931A-BAC2-7C04-93EB836713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53764" y="5919426"/>
            <a:ext cx="266700" cy="15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4246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3543</TotalTime>
  <Words>1852</Words>
  <Application>Microsoft Macintosh PowerPoint</Application>
  <PresentationFormat>Widescreen</PresentationFormat>
  <Paragraphs>168</Paragraphs>
  <Slides>29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Aptos</vt:lpstr>
      <vt:lpstr>Aptos Display</vt:lpstr>
      <vt:lpstr>Arial</vt:lpstr>
      <vt:lpstr>HelveticaNeueforSAS</vt:lpstr>
      <vt:lpstr>Office Theme</vt:lpstr>
      <vt:lpstr>PowerPoint Presentation</vt:lpstr>
      <vt:lpstr>PowerPoint Presentation</vt:lpstr>
      <vt:lpstr>Automating tasks with                   Actions </vt:lpstr>
      <vt:lpstr>Agenda</vt:lpstr>
      <vt:lpstr>Our task</vt:lpstr>
      <vt:lpstr>PowerPoint Presentation</vt:lpstr>
      <vt:lpstr>DOF’s Property Tax Map team provides daily updates to the feature collection, which is hosted on the Esri API for open access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do we use                      Actions to automate this?</vt:lpstr>
      <vt:lpstr>PowerPoint Presentation</vt:lpstr>
      <vt:lpstr>PowerPoint Presentation</vt:lpstr>
      <vt:lpstr>Set up our project in a GitHub repository</vt:lpstr>
      <vt:lpstr>PowerPoint Presentation</vt:lpstr>
      <vt:lpstr>PowerPoint Presentation</vt:lpstr>
      <vt:lpstr>PowerPoint Presentation</vt:lpstr>
      <vt:lpstr>PowerPoint Presentation</vt:lpstr>
      <vt:lpstr>PowerPoint Presentation</vt:lpstr>
      <vt:lpstr>PowerPoint Presentation</vt:lpstr>
      <vt:lpstr>                            Actions</vt:lpstr>
      <vt:lpstr>PowerPoint Presentation</vt:lpstr>
      <vt:lpstr>PowerPoint Presentation</vt:lpstr>
      <vt:lpstr>PowerPoint Presentation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Boyd, Claire</dc:creator>
  <cp:lastModifiedBy>Pablo Hernandez</cp:lastModifiedBy>
  <cp:revision>934</cp:revision>
  <dcterms:created xsi:type="dcterms:W3CDTF">2025-05-28T20:55:00Z</dcterms:created>
  <dcterms:modified xsi:type="dcterms:W3CDTF">2025-10-20T19:24:31Z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bba276f-0474-4e48-a2bc-69b0eb22318c_Enabled">
    <vt:lpwstr>true</vt:lpwstr>
  </property>
  <property fmtid="{D5CDD505-2E9C-101B-9397-08002B2CF9AE}" pid="3" name="MSIP_Label_ebba276f-0474-4e48-a2bc-69b0eb22318c_SetDate">
    <vt:lpwstr>2025-06-11T21:03:28Z</vt:lpwstr>
  </property>
  <property fmtid="{D5CDD505-2E9C-101B-9397-08002B2CF9AE}" pid="4" name="MSIP_Label_ebba276f-0474-4e48-a2bc-69b0eb22318c_Method">
    <vt:lpwstr>Standard</vt:lpwstr>
  </property>
  <property fmtid="{D5CDD505-2E9C-101B-9397-08002B2CF9AE}" pid="5" name="MSIP_Label_ebba276f-0474-4e48-a2bc-69b0eb22318c_Name">
    <vt:lpwstr>Non-Restricted-Main</vt:lpwstr>
  </property>
  <property fmtid="{D5CDD505-2E9C-101B-9397-08002B2CF9AE}" pid="6" name="MSIP_Label_ebba276f-0474-4e48-a2bc-69b0eb22318c_SiteId">
    <vt:lpwstr>32f56fc7-5f81-4e22-a95b-15da66513bef</vt:lpwstr>
  </property>
  <property fmtid="{D5CDD505-2E9C-101B-9397-08002B2CF9AE}" pid="7" name="MSIP_Label_ebba276f-0474-4e48-a2bc-69b0eb22318c_ActionId">
    <vt:lpwstr>3dd1422f-45f1-4180-a3ba-6e80e9b8fbcc</vt:lpwstr>
  </property>
  <property fmtid="{D5CDD505-2E9C-101B-9397-08002B2CF9AE}" pid="8" name="MSIP_Label_ebba276f-0474-4e48-a2bc-69b0eb22318c_ContentBits">
    <vt:lpwstr>0</vt:lpwstr>
  </property>
  <property fmtid="{D5CDD505-2E9C-101B-9397-08002B2CF9AE}" pid="9" name="MSIP_Label_ebba276f-0474-4e48-a2bc-69b0eb22318c_Tag">
    <vt:lpwstr>10, 3, 0, 1</vt:lpwstr>
  </property>
</Properties>
</file>